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6.jpg" ContentType="image/png"/>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8" r:id="rId1"/>
  </p:sldMasterIdLst>
  <p:notesMasterIdLst>
    <p:notesMasterId r:id="rId32"/>
  </p:notesMasterIdLst>
  <p:sldIdLst>
    <p:sldId id="257" r:id="rId2"/>
    <p:sldId id="256" r:id="rId3"/>
    <p:sldId id="265" r:id="rId4"/>
    <p:sldId id="258" r:id="rId5"/>
    <p:sldId id="266" r:id="rId6"/>
    <p:sldId id="259" r:id="rId7"/>
    <p:sldId id="260" r:id="rId8"/>
    <p:sldId id="268" r:id="rId9"/>
    <p:sldId id="263" r:id="rId10"/>
    <p:sldId id="267" r:id="rId11"/>
    <p:sldId id="261" r:id="rId12"/>
    <p:sldId id="262" r:id="rId13"/>
    <p:sldId id="272" r:id="rId14"/>
    <p:sldId id="273" r:id="rId15"/>
    <p:sldId id="274" r:id="rId16"/>
    <p:sldId id="275" r:id="rId17"/>
    <p:sldId id="276" r:id="rId18"/>
    <p:sldId id="269" r:id="rId19"/>
    <p:sldId id="270" r:id="rId20"/>
    <p:sldId id="271" r:id="rId21"/>
    <p:sldId id="277" r:id="rId22"/>
    <p:sldId id="278" r:id="rId23"/>
    <p:sldId id="279" r:id="rId24"/>
    <p:sldId id="280" r:id="rId25"/>
    <p:sldId id="281" r:id="rId26"/>
    <p:sldId id="282" r:id="rId27"/>
    <p:sldId id="283" r:id="rId28"/>
    <p:sldId id="284" r:id="rId29"/>
    <p:sldId id="285" r:id="rId30"/>
    <p:sldId id="286"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4F61C0-5722-4646-92A0-DD36E7AFD402}" type="doc">
      <dgm:prSet loTypeId="urn:microsoft.com/office/officeart/2005/8/layout/orgChart1" loCatId="hierarchy" qsTypeId="urn:microsoft.com/office/officeart/2005/8/quickstyle/3d1" qsCatId="3D" csTypeId="urn:microsoft.com/office/officeart/2005/8/colors/colorful3" csCatId="colorful" phldr="1"/>
      <dgm:spPr/>
      <dgm:t>
        <a:bodyPr/>
        <a:lstStyle/>
        <a:p>
          <a:endParaRPr lang="en-US"/>
        </a:p>
      </dgm:t>
    </dgm:pt>
    <dgm:pt modelId="{FA7CEC58-FC92-4A4D-AF7F-1946FA575437}">
      <dgm:prSet phldrT="[Text]"/>
      <dgm:spPr/>
      <dgm:t>
        <a:bodyPr/>
        <a:lstStyle/>
        <a:p>
          <a:r>
            <a:rPr lang="en-US" dirty="0" smtClean="0"/>
            <a:t>ARIMA Model</a:t>
          </a:r>
          <a:endParaRPr lang="en-US" dirty="0"/>
        </a:p>
      </dgm:t>
    </dgm:pt>
    <dgm:pt modelId="{5849C9D5-9E2C-4EF2-8CB1-8394ACAC97C6}" type="parTrans" cxnId="{92A20930-7D33-473B-91D6-93C4DDAB398F}">
      <dgm:prSet/>
      <dgm:spPr/>
      <dgm:t>
        <a:bodyPr/>
        <a:lstStyle/>
        <a:p>
          <a:endParaRPr lang="en-US"/>
        </a:p>
      </dgm:t>
    </dgm:pt>
    <dgm:pt modelId="{1682F973-1F86-4EA9-9044-93579EC79FF4}" type="sibTrans" cxnId="{92A20930-7D33-473B-91D6-93C4DDAB398F}">
      <dgm:prSet/>
      <dgm:spPr/>
      <dgm:t>
        <a:bodyPr/>
        <a:lstStyle/>
        <a:p>
          <a:endParaRPr lang="en-US"/>
        </a:p>
      </dgm:t>
    </dgm:pt>
    <dgm:pt modelId="{5E2D5067-BAC7-4D22-8C5C-759940447260}">
      <dgm:prSet phldrT="[Text]"/>
      <dgm:spPr/>
      <dgm:t>
        <a:bodyPr/>
        <a:lstStyle/>
        <a:p>
          <a:r>
            <a:rPr lang="en-US" dirty="0" smtClean="0"/>
            <a:t>Autoregressive (p)</a:t>
          </a:r>
          <a:endParaRPr lang="en-US" dirty="0"/>
        </a:p>
      </dgm:t>
    </dgm:pt>
    <dgm:pt modelId="{2ED3CFD6-8AE9-41A4-AA95-716A7592601D}" type="parTrans" cxnId="{2A21937C-B6CB-4003-95F1-E469619DBE9F}">
      <dgm:prSet/>
      <dgm:spPr/>
      <dgm:t>
        <a:bodyPr/>
        <a:lstStyle/>
        <a:p>
          <a:endParaRPr lang="en-US"/>
        </a:p>
      </dgm:t>
    </dgm:pt>
    <dgm:pt modelId="{A1C22B62-5464-4567-B563-3758BBD4FC50}" type="sibTrans" cxnId="{2A21937C-B6CB-4003-95F1-E469619DBE9F}">
      <dgm:prSet/>
      <dgm:spPr/>
      <dgm:t>
        <a:bodyPr/>
        <a:lstStyle/>
        <a:p>
          <a:endParaRPr lang="en-US"/>
        </a:p>
      </dgm:t>
    </dgm:pt>
    <dgm:pt modelId="{1513D124-4BB2-4CF7-BDBA-9777AF6E1868}">
      <dgm:prSet phldrT="[Text]"/>
      <dgm:spPr/>
      <dgm:t>
        <a:bodyPr/>
        <a:lstStyle/>
        <a:p>
          <a:r>
            <a:rPr lang="en-US" dirty="0" smtClean="0"/>
            <a:t>Integrated (d)</a:t>
          </a:r>
          <a:endParaRPr lang="en-US" dirty="0"/>
        </a:p>
      </dgm:t>
    </dgm:pt>
    <dgm:pt modelId="{ED572BAF-82CA-4D2E-B9E9-77CBAA15383F}" type="parTrans" cxnId="{28181DA9-3C77-4792-837F-ABEED83E574A}">
      <dgm:prSet/>
      <dgm:spPr/>
      <dgm:t>
        <a:bodyPr/>
        <a:lstStyle/>
        <a:p>
          <a:endParaRPr lang="en-US"/>
        </a:p>
      </dgm:t>
    </dgm:pt>
    <dgm:pt modelId="{7B8FEE2A-765E-4AC6-AF96-1256D1DB8100}" type="sibTrans" cxnId="{28181DA9-3C77-4792-837F-ABEED83E574A}">
      <dgm:prSet/>
      <dgm:spPr/>
      <dgm:t>
        <a:bodyPr/>
        <a:lstStyle/>
        <a:p>
          <a:endParaRPr lang="en-US"/>
        </a:p>
      </dgm:t>
    </dgm:pt>
    <dgm:pt modelId="{62345A88-9990-49B0-8964-27A4309F0F9B}">
      <dgm:prSet phldrT="[Text]"/>
      <dgm:spPr/>
      <dgm:t>
        <a:bodyPr/>
        <a:lstStyle/>
        <a:p>
          <a:r>
            <a:rPr lang="en-US" dirty="0" smtClean="0"/>
            <a:t>Moving Average (q)</a:t>
          </a:r>
          <a:endParaRPr lang="en-US" dirty="0"/>
        </a:p>
      </dgm:t>
    </dgm:pt>
    <dgm:pt modelId="{16A95884-6501-49CA-BDC9-5D6B60CC37F7}" type="parTrans" cxnId="{A4CCD6AD-1616-498E-A805-DF2D0F4E997D}">
      <dgm:prSet/>
      <dgm:spPr/>
      <dgm:t>
        <a:bodyPr/>
        <a:lstStyle/>
        <a:p>
          <a:endParaRPr lang="en-US"/>
        </a:p>
      </dgm:t>
    </dgm:pt>
    <dgm:pt modelId="{76B01A06-7BB2-43FB-9DF0-D9F45BC6A680}" type="sibTrans" cxnId="{A4CCD6AD-1616-498E-A805-DF2D0F4E997D}">
      <dgm:prSet/>
      <dgm:spPr/>
      <dgm:t>
        <a:bodyPr/>
        <a:lstStyle/>
        <a:p>
          <a:endParaRPr lang="en-US"/>
        </a:p>
      </dgm:t>
    </dgm:pt>
    <dgm:pt modelId="{008582E2-DB5D-43F3-84B1-C17137EFAE93}" type="pres">
      <dgm:prSet presAssocID="{024F61C0-5722-4646-92A0-DD36E7AFD402}" presName="hierChild1" presStyleCnt="0">
        <dgm:presLayoutVars>
          <dgm:orgChart val="1"/>
          <dgm:chPref val="1"/>
          <dgm:dir/>
          <dgm:animOne val="branch"/>
          <dgm:animLvl val="lvl"/>
          <dgm:resizeHandles/>
        </dgm:presLayoutVars>
      </dgm:prSet>
      <dgm:spPr/>
    </dgm:pt>
    <dgm:pt modelId="{0266A04A-F38B-49F4-9794-31FFACE8777E}" type="pres">
      <dgm:prSet presAssocID="{FA7CEC58-FC92-4A4D-AF7F-1946FA575437}" presName="hierRoot1" presStyleCnt="0">
        <dgm:presLayoutVars>
          <dgm:hierBranch val="init"/>
        </dgm:presLayoutVars>
      </dgm:prSet>
      <dgm:spPr/>
    </dgm:pt>
    <dgm:pt modelId="{1FC62051-AE67-45C4-8CB7-2B1D49A85B28}" type="pres">
      <dgm:prSet presAssocID="{FA7CEC58-FC92-4A4D-AF7F-1946FA575437}" presName="rootComposite1" presStyleCnt="0"/>
      <dgm:spPr/>
    </dgm:pt>
    <dgm:pt modelId="{5FA65C58-4BEF-4AE3-8359-521D66D87CBE}" type="pres">
      <dgm:prSet presAssocID="{FA7CEC58-FC92-4A4D-AF7F-1946FA575437}" presName="rootText1" presStyleLbl="node0" presStyleIdx="0" presStyleCnt="1">
        <dgm:presLayoutVars>
          <dgm:chPref val="3"/>
        </dgm:presLayoutVars>
      </dgm:prSet>
      <dgm:spPr/>
    </dgm:pt>
    <dgm:pt modelId="{B237B5C5-DF8A-47BE-ADF6-DA1EDFC2F4FF}" type="pres">
      <dgm:prSet presAssocID="{FA7CEC58-FC92-4A4D-AF7F-1946FA575437}" presName="rootConnector1" presStyleLbl="node1" presStyleIdx="0" presStyleCnt="0"/>
      <dgm:spPr/>
    </dgm:pt>
    <dgm:pt modelId="{8A52CB9C-35EC-41AF-AC8E-920B791017FC}" type="pres">
      <dgm:prSet presAssocID="{FA7CEC58-FC92-4A4D-AF7F-1946FA575437}" presName="hierChild2" presStyleCnt="0"/>
      <dgm:spPr/>
    </dgm:pt>
    <dgm:pt modelId="{B07DE390-DD00-42CD-AA47-C117A92EE158}" type="pres">
      <dgm:prSet presAssocID="{2ED3CFD6-8AE9-41A4-AA95-716A7592601D}" presName="Name37" presStyleLbl="parChTrans1D2" presStyleIdx="0" presStyleCnt="3"/>
      <dgm:spPr/>
    </dgm:pt>
    <dgm:pt modelId="{0BBD09CE-6673-4687-A627-46DD01035276}" type="pres">
      <dgm:prSet presAssocID="{5E2D5067-BAC7-4D22-8C5C-759940447260}" presName="hierRoot2" presStyleCnt="0">
        <dgm:presLayoutVars>
          <dgm:hierBranch val="init"/>
        </dgm:presLayoutVars>
      </dgm:prSet>
      <dgm:spPr/>
    </dgm:pt>
    <dgm:pt modelId="{1CE0F4C2-D8CC-481E-807F-28875A2E843B}" type="pres">
      <dgm:prSet presAssocID="{5E2D5067-BAC7-4D22-8C5C-759940447260}" presName="rootComposite" presStyleCnt="0"/>
      <dgm:spPr/>
    </dgm:pt>
    <dgm:pt modelId="{111284AF-A737-44C0-B3B3-0A48373CEF9D}" type="pres">
      <dgm:prSet presAssocID="{5E2D5067-BAC7-4D22-8C5C-759940447260}" presName="rootText" presStyleLbl="node2" presStyleIdx="0" presStyleCnt="3">
        <dgm:presLayoutVars>
          <dgm:chPref val="3"/>
        </dgm:presLayoutVars>
      </dgm:prSet>
      <dgm:spPr/>
    </dgm:pt>
    <dgm:pt modelId="{574E9696-6FD4-4098-94BF-3AC611A788A4}" type="pres">
      <dgm:prSet presAssocID="{5E2D5067-BAC7-4D22-8C5C-759940447260}" presName="rootConnector" presStyleLbl="node2" presStyleIdx="0" presStyleCnt="3"/>
      <dgm:spPr/>
    </dgm:pt>
    <dgm:pt modelId="{D1AEED73-D6D8-45EA-966C-D5FB2631B864}" type="pres">
      <dgm:prSet presAssocID="{5E2D5067-BAC7-4D22-8C5C-759940447260}" presName="hierChild4" presStyleCnt="0"/>
      <dgm:spPr/>
    </dgm:pt>
    <dgm:pt modelId="{BB9EE172-C1FF-4474-ACE0-018A731C9316}" type="pres">
      <dgm:prSet presAssocID="{5E2D5067-BAC7-4D22-8C5C-759940447260}" presName="hierChild5" presStyleCnt="0"/>
      <dgm:spPr/>
    </dgm:pt>
    <dgm:pt modelId="{A2A7E5CD-8CB8-44F8-B1F4-2E26BD119EC4}" type="pres">
      <dgm:prSet presAssocID="{ED572BAF-82CA-4D2E-B9E9-77CBAA15383F}" presName="Name37" presStyleLbl="parChTrans1D2" presStyleIdx="1" presStyleCnt="3"/>
      <dgm:spPr/>
    </dgm:pt>
    <dgm:pt modelId="{A191C8E5-27C0-4A4A-BA46-FA67E8DD6A47}" type="pres">
      <dgm:prSet presAssocID="{1513D124-4BB2-4CF7-BDBA-9777AF6E1868}" presName="hierRoot2" presStyleCnt="0">
        <dgm:presLayoutVars>
          <dgm:hierBranch val="init"/>
        </dgm:presLayoutVars>
      </dgm:prSet>
      <dgm:spPr/>
    </dgm:pt>
    <dgm:pt modelId="{1C128199-CC03-4098-89EC-974E6AC60028}" type="pres">
      <dgm:prSet presAssocID="{1513D124-4BB2-4CF7-BDBA-9777AF6E1868}" presName="rootComposite" presStyleCnt="0"/>
      <dgm:spPr/>
    </dgm:pt>
    <dgm:pt modelId="{7266B88E-9278-4066-AF76-CD8891575F16}" type="pres">
      <dgm:prSet presAssocID="{1513D124-4BB2-4CF7-BDBA-9777AF6E1868}" presName="rootText" presStyleLbl="node2" presStyleIdx="1" presStyleCnt="3">
        <dgm:presLayoutVars>
          <dgm:chPref val="3"/>
        </dgm:presLayoutVars>
      </dgm:prSet>
      <dgm:spPr/>
    </dgm:pt>
    <dgm:pt modelId="{F7C0BF87-432D-43DA-A6E5-A195B42B5AAB}" type="pres">
      <dgm:prSet presAssocID="{1513D124-4BB2-4CF7-BDBA-9777AF6E1868}" presName="rootConnector" presStyleLbl="node2" presStyleIdx="1" presStyleCnt="3"/>
      <dgm:spPr/>
    </dgm:pt>
    <dgm:pt modelId="{05F91844-04D6-4F6E-81E1-D64C501563C8}" type="pres">
      <dgm:prSet presAssocID="{1513D124-4BB2-4CF7-BDBA-9777AF6E1868}" presName="hierChild4" presStyleCnt="0"/>
      <dgm:spPr/>
    </dgm:pt>
    <dgm:pt modelId="{6B0A05E4-2D75-41E4-B2FC-C2CBAF01A9A7}" type="pres">
      <dgm:prSet presAssocID="{1513D124-4BB2-4CF7-BDBA-9777AF6E1868}" presName="hierChild5" presStyleCnt="0"/>
      <dgm:spPr/>
    </dgm:pt>
    <dgm:pt modelId="{B10B6FC1-5FE3-4823-ABA4-DABB59019F0B}" type="pres">
      <dgm:prSet presAssocID="{16A95884-6501-49CA-BDC9-5D6B60CC37F7}" presName="Name37" presStyleLbl="parChTrans1D2" presStyleIdx="2" presStyleCnt="3"/>
      <dgm:spPr/>
    </dgm:pt>
    <dgm:pt modelId="{9909F1E5-24EF-4866-B6BC-1C2B81E04233}" type="pres">
      <dgm:prSet presAssocID="{62345A88-9990-49B0-8964-27A4309F0F9B}" presName="hierRoot2" presStyleCnt="0">
        <dgm:presLayoutVars>
          <dgm:hierBranch val="init"/>
        </dgm:presLayoutVars>
      </dgm:prSet>
      <dgm:spPr/>
    </dgm:pt>
    <dgm:pt modelId="{B7338FD4-CAF9-4403-B85D-1DC9DE03A523}" type="pres">
      <dgm:prSet presAssocID="{62345A88-9990-49B0-8964-27A4309F0F9B}" presName="rootComposite" presStyleCnt="0"/>
      <dgm:spPr/>
    </dgm:pt>
    <dgm:pt modelId="{C9B44A0B-0C42-4AF7-8C4C-C48E0B5EF1B1}" type="pres">
      <dgm:prSet presAssocID="{62345A88-9990-49B0-8964-27A4309F0F9B}" presName="rootText" presStyleLbl="node2" presStyleIdx="2" presStyleCnt="3">
        <dgm:presLayoutVars>
          <dgm:chPref val="3"/>
        </dgm:presLayoutVars>
      </dgm:prSet>
      <dgm:spPr/>
    </dgm:pt>
    <dgm:pt modelId="{E25B7E59-9E7B-4BCD-983D-64398F32A331}" type="pres">
      <dgm:prSet presAssocID="{62345A88-9990-49B0-8964-27A4309F0F9B}" presName="rootConnector" presStyleLbl="node2" presStyleIdx="2" presStyleCnt="3"/>
      <dgm:spPr/>
    </dgm:pt>
    <dgm:pt modelId="{435FEEFA-8458-46D9-8ADE-497C3F8D0999}" type="pres">
      <dgm:prSet presAssocID="{62345A88-9990-49B0-8964-27A4309F0F9B}" presName="hierChild4" presStyleCnt="0"/>
      <dgm:spPr/>
    </dgm:pt>
    <dgm:pt modelId="{72BCADDB-9730-488D-9859-03318F1C6C6E}" type="pres">
      <dgm:prSet presAssocID="{62345A88-9990-49B0-8964-27A4309F0F9B}" presName="hierChild5" presStyleCnt="0"/>
      <dgm:spPr/>
    </dgm:pt>
    <dgm:pt modelId="{5F3E0462-8FF3-4E22-AFE4-858D1AF27C32}" type="pres">
      <dgm:prSet presAssocID="{FA7CEC58-FC92-4A4D-AF7F-1946FA575437}" presName="hierChild3" presStyleCnt="0"/>
      <dgm:spPr/>
    </dgm:pt>
  </dgm:ptLst>
  <dgm:cxnLst>
    <dgm:cxn modelId="{C0100184-D28E-466C-9D68-8768927BC4E4}" type="presOf" srcId="{5E2D5067-BAC7-4D22-8C5C-759940447260}" destId="{574E9696-6FD4-4098-94BF-3AC611A788A4}" srcOrd="1" destOrd="0" presId="urn:microsoft.com/office/officeart/2005/8/layout/orgChart1"/>
    <dgm:cxn modelId="{92A20930-7D33-473B-91D6-93C4DDAB398F}" srcId="{024F61C0-5722-4646-92A0-DD36E7AFD402}" destId="{FA7CEC58-FC92-4A4D-AF7F-1946FA575437}" srcOrd="0" destOrd="0" parTransId="{5849C9D5-9E2C-4EF2-8CB1-8394ACAC97C6}" sibTransId="{1682F973-1F86-4EA9-9044-93579EC79FF4}"/>
    <dgm:cxn modelId="{5BC82D80-185C-4931-9E87-AE4D5AAFC427}" type="presOf" srcId="{16A95884-6501-49CA-BDC9-5D6B60CC37F7}" destId="{B10B6FC1-5FE3-4823-ABA4-DABB59019F0B}" srcOrd="0" destOrd="0" presId="urn:microsoft.com/office/officeart/2005/8/layout/orgChart1"/>
    <dgm:cxn modelId="{4EA183E3-C832-4DD2-AD5D-EC1C40705433}" type="presOf" srcId="{62345A88-9990-49B0-8964-27A4309F0F9B}" destId="{E25B7E59-9E7B-4BCD-983D-64398F32A331}" srcOrd="1" destOrd="0" presId="urn:microsoft.com/office/officeart/2005/8/layout/orgChart1"/>
    <dgm:cxn modelId="{2A21937C-B6CB-4003-95F1-E469619DBE9F}" srcId="{FA7CEC58-FC92-4A4D-AF7F-1946FA575437}" destId="{5E2D5067-BAC7-4D22-8C5C-759940447260}" srcOrd="0" destOrd="0" parTransId="{2ED3CFD6-8AE9-41A4-AA95-716A7592601D}" sibTransId="{A1C22B62-5464-4567-B563-3758BBD4FC50}"/>
    <dgm:cxn modelId="{559E40A7-22D3-467C-9784-91699BDB11FC}" type="presOf" srcId="{1513D124-4BB2-4CF7-BDBA-9777AF6E1868}" destId="{7266B88E-9278-4066-AF76-CD8891575F16}" srcOrd="0" destOrd="0" presId="urn:microsoft.com/office/officeart/2005/8/layout/orgChart1"/>
    <dgm:cxn modelId="{1E194AD9-5811-4F1B-830E-B6A6A64113EE}" type="presOf" srcId="{1513D124-4BB2-4CF7-BDBA-9777AF6E1868}" destId="{F7C0BF87-432D-43DA-A6E5-A195B42B5AAB}" srcOrd="1" destOrd="0" presId="urn:microsoft.com/office/officeart/2005/8/layout/orgChart1"/>
    <dgm:cxn modelId="{25EA6E6F-B862-4030-8BBD-2188649A3710}" type="presOf" srcId="{62345A88-9990-49B0-8964-27A4309F0F9B}" destId="{C9B44A0B-0C42-4AF7-8C4C-C48E0B5EF1B1}" srcOrd="0" destOrd="0" presId="urn:microsoft.com/office/officeart/2005/8/layout/orgChart1"/>
    <dgm:cxn modelId="{22E258D8-9230-47F4-9D7B-2D02B5645EA2}" type="presOf" srcId="{2ED3CFD6-8AE9-41A4-AA95-716A7592601D}" destId="{B07DE390-DD00-42CD-AA47-C117A92EE158}" srcOrd="0" destOrd="0" presId="urn:microsoft.com/office/officeart/2005/8/layout/orgChart1"/>
    <dgm:cxn modelId="{8431094B-C58D-4612-974B-9BEA98AD163F}" type="presOf" srcId="{ED572BAF-82CA-4D2E-B9E9-77CBAA15383F}" destId="{A2A7E5CD-8CB8-44F8-B1F4-2E26BD119EC4}" srcOrd="0" destOrd="0" presId="urn:microsoft.com/office/officeart/2005/8/layout/orgChart1"/>
    <dgm:cxn modelId="{28181DA9-3C77-4792-837F-ABEED83E574A}" srcId="{FA7CEC58-FC92-4A4D-AF7F-1946FA575437}" destId="{1513D124-4BB2-4CF7-BDBA-9777AF6E1868}" srcOrd="1" destOrd="0" parTransId="{ED572BAF-82CA-4D2E-B9E9-77CBAA15383F}" sibTransId="{7B8FEE2A-765E-4AC6-AF96-1256D1DB8100}"/>
    <dgm:cxn modelId="{DF38B998-CCF0-4B78-AE4A-5C816B34BFEC}" type="presOf" srcId="{FA7CEC58-FC92-4A4D-AF7F-1946FA575437}" destId="{5FA65C58-4BEF-4AE3-8359-521D66D87CBE}" srcOrd="0" destOrd="0" presId="urn:microsoft.com/office/officeart/2005/8/layout/orgChart1"/>
    <dgm:cxn modelId="{3AD18906-F4AA-45BD-939A-852400EDE06A}" type="presOf" srcId="{5E2D5067-BAC7-4D22-8C5C-759940447260}" destId="{111284AF-A737-44C0-B3B3-0A48373CEF9D}" srcOrd="0" destOrd="0" presId="urn:microsoft.com/office/officeart/2005/8/layout/orgChart1"/>
    <dgm:cxn modelId="{A4CCD6AD-1616-498E-A805-DF2D0F4E997D}" srcId="{FA7CEC58-FC92-4A4D-AF7F-1946FA575437}" destId="{62345A88-9990-49B0-8964-27A4309F0F9B}" srcOrd="2" destOrd="0" parTransId="{16A95884-6501-49CA-BDC9-5D6B60CC37F7}" sibTransId="{76B01A06-7BB2-43FB-9DF0-D9F45BC6A680}"/>
    <dgm:cxn modelId="{8AEA8B2D-8C92-46BE-B0A3-FC9A9D822BE4}" type="presOf" srcId="{024F61C0-5722-4646-92A0-DD36E7AFD402}" destId="{008582E2-DB5D-43F3-84B1-C17137EFAE93}" srcOrd="0" destOrd="0" presId="urn:microsoft.com/office/officeart/2005/8/layout/orgChart1"/>
    <dgm:cxn modelId="{F5E9F045-6238-4E89-A8CE-0D7E1D13A7E3}" type="presOf" srcId="{FA7CEC58-FC92-4A4D-AF7F-1946FA575437}" destId="{B237B5C5-DF8A-47BE-ADF6-DA1EDFC2F4FF}" srcOrd="1" destOrd="0" presId="urn:microsoft.com/office/officeart/2005/8/layout/orgChart1"/>
    <dgm:cxn modelId="{F52201C1-83C8-436F-A0FC-065BBD7990DA}" type="presParOf" srcId="{008582E2-DB5D-43F3-84B1-C17137EFAE93}" destId="{0266A04A-F38B-49F4-9794-31FFACE8777E}" srcOrd="0" destOrd="0" presId="urn:microsoft.com/office/officeart/2005/8/layout/orgChart1"/>
    <dgm:cxn modelId="{BB782648-45F1-4491-80F5-5E0F13D81325}" type="presParOf" srcId="{0266A04A-F38B-49F4-9794-31FFACE8777E}" destId="{1FC62051-AE67-45C4-8CB7-2B1D49A85B28}" srcOrd="0" destOrd="0" presId="urn:microsoft.com/office/officeart/2005/8/layout/orgChart1"/>
    <dgm:cxn modelId="{9A9EF433-389D-4A70-A4D5-22E28C393EC8}" type="presParOf" srcId="{1FC62051-AE67-45C4-8CB7-2B1D49A85B28}" destId="{5FA65C58-4BEF-4AE3-8359-521D66D87CBE}" srcOrd="0" destOrd="0" presId="urn:microsoft.com/office/officeart/2005/8/layout/orgChart1"/>
    <dgm:cxn modelId="{3B61C3E5-6753-47E6-8F3F-D5234F5D9F62}" type="presParOf" srcId="{1FC62051-AE67-45C4-8CB7-2B1D49A85B28}" destId="{B237B5C5-DF8A-47BE-ADF6-DA1EDFC2F4FF}" srcOrd="1" destOrd="0" presId="urn:microsoft.com/office/officeart/2005/8/layout/orgChart1"/>
    <dgm:cxn modelId="{5D71D4B5-5FE4-485C-AD58-416E699C7700}" type="presParOf" srcId="{0266A04A-F38B-49F4-9794-31FFACE8777E}" destId="{8A52CB9C-35EC-41AF-AC8E-920B791017FC}" srcOrd="1" destOrd="0" presId="urn:microsoft.com/office/officeart/2005/8/layout/orgChart1"/>
    <dgm:cxn modelId="{37653F24-6368-4235-9CE0-0D17525821EC}" type="presParOf" srcId="{8A52CB9C-35EC-41AF-AC8E-920B791017FC}" destId="{B07DE390-DD00-42CD-AA47-C117A92EE158}" srcOrd="0" destOrd="0" presId="urn:microsoft.com/office/officeart/2005/8/layout/orgChart1"/>
    <dgm:cxn modelId="{AD8C75ED-7EE4-4B31-86F6-5BFF89F16AB1}" type="presParOf" srcId="{8A52CB9C-35EC-41AF-AC8E-920B791017FC}" destId="{0BBD09CE-6673-4687-A627-46DD01035276}" srcOrd="1" destOrd="0" presId="urn:microsoft.com/office/officeart/2005/8/layout/orgChart1"/>
    <dgm:cxn modelId="{7F35392E-4A02-4211-829F-112B3B335ADA}" type="presParOf" srcId="{0BBD09CE-6673-4687-A627-46DD01035276}" destId="{1CE0F4C2-D8CC-481E-807F-28875A2E843B}" srcOrd="0" destOrd="0" presId="urn:microsoft.com/office/officeart/2005/8/layout/orgChart1"/>
    <dgm:cxn modelId="{A058B77A-8D20-4C53-9AE3-FEF642AC1E23}" type="presParOf" srcId="{1CE0F4C2-D8CC-481E-807F-28875A2E843B}" destId="{111284AF-A737-44C0-B3B3-0A48373CEF9D}" srcOrd="0" destOrd="0" presId="urn:microsoft.com/office/officeart/2005/8/layout/orgChart1"/>
    <dgm:cxn modelId="{106D9501-F814-4B7E-86C6-A42184EB0057}" type="presParOf" srcId="{1CE0F4C2-D8CC-481E-807F-28875A2E843B}" destId="{574E9696-6FD4-4098-94BF-3AC611A788A4}" srcOrd="1" destOrd="0" presId="urn:microsoft.com/office/officeart/2005/8/layout/orgChart1"/>
    <dgm:cxn modelId="{6B6EC09F-D863-40BB-85FD-576E8D1ACA35}" type="presParOf" srcId="{0BBD09CE-6673-4687-A627-46DD01035276}" destId="{D1AEED73-D6D8-45EA-966C-D5FB2631B864}" srcOrd="1" destOrd="0" presId="urn:microsoft.com/office/officeart/2005/8/layout/orgChart1"/>
    <dgm:cxn modelId="{7318070E-64BF-4A20-BF9A-D400B73B4958}" type="presParOf" srcId="{0BBD09CE-6673-4687-A627-46DD01035276}" destId="{BB9EE172-C1FF-4474-ACE0-018A731C9316}" srcOrd="2" destOrd="0" presId="urn:microsoft.com/office/officeart/2005/8/layout/orgChart1"/>
    <dgm:cxn modelId="{7FC8ED36-4F0C-4974-BB19-347ED827D50B}" type="presParOf" srcId="{8A52CB9C-35EC-41AF-AC8E-920B791017FC}" destId="{A2A7E5CD-8CB8-44F8-B1F4-2E26BD119EC4}" srcOrd="2" destOrd="0" presId="urn:microsoft.com/office/officeart/2005/8/layout/orgChart1"/>
    <dgm:cxn modelId="{E07F9405-456B-48C4-906E-8475E4DFFAE8}" type="presParOf" srcId="{8A52CB9C-35EC-41AF-AC8E-920B791017FC}" destId="{A191C8E5-27C0-4A4A-BA46-FA67E8DD6A47}" srcOrd="3" destOrd="0" presId="urn:microsoft.com/office/officeart/2005/8/layout/orgChart1"/>
    <dgm:cxn modelId="{15F9DD17-844F-482B-9834-A9CE3AD580E7}" type="presParOf" srcId="{A191C8E5-27C0-4A4A-BA46-FA67E8DD6A47}" destId="{1C128199-CC03-4098-89EC-974E6AC60028}" srcOrd="0" destOrd="0" presId="urn:microsoft.com/office/officeart/2005/8/layout/orgChart1"/>
    <dgm:cxn modelId="{EF990351-59C4-44B8-8ED7-44226EC9BF6C}" type="presParOf" srcId="{1C128199-CC03-4098-89EC-974E6AC60028}" destId="{7266B88E-9278-4066-AF76-CD8891575F16}" srcOrd="0" destOrd="0" presId="urn:microsoft.com/office/officeart/2005/8/layout/orgChart1"/>
    <dgm:cxn modelId="{BBD3C9D8-FE29-4BAA-B278-A649EC2589EF}" type="presParOf" srcId="{1C128199-CC03-4098-89EC-974E6AC60028}" destId="{F7C0BF87-432D-43DA-A6E5-A195B42B5AAB}" srcOrd="1" destOrd="0" presId="urn:microsoft.com/office/officeart/2005/8/layout/orgChart1"/>
    <dgm:cxn modelId="{73432199-82AE-4502-BD44-A51300DCB5AB}" type="presParOf" srcId="{A191C8E5-27C0-4A4A-BA46-FA67E8DD6A47}" destId="{05F91844-04D6-4F6E-81E1-D64C501563C8}" srcOrd="1" destOrd="0" presId="urn:microsoft.com/office/officeart/2005/8/layout/orgChart1"/>
    <dgm:cxn modelId="{0F71D60D-AC9E-447B-95CE-DCEDA1219A9A}" type="presParOf" srcId="{A191C8E5-27C0-4A4A-BA46-FA67E8DD6A47}" destId="{6B0A05E4-2D75-41E4-B2FC-C2CBAF01A9A7}" srcOrd="2" destOrd="0" presId="urn:microsoft.com/office/officeart/2005/8/layout/orgChart1"/>
    <dgm:cxn modelId="{E979ED94-CFEE-4C2C-B847-34EE830B4D02}" type="presParOf" srcId="{8A52CB9C-35EC-41AF-AC8E-920B791017FC}" destId="{B10B6FC1-5FE3-4823-ABA4-DABB59019F0B}" srcOrd="4" destOrd="0" presId="urn:microsoft.com/office/officeart/2005/8/layout/orgChart1"/>
    <dgm:cxn modelId="{11C5C5F5-6FF0-4A49-AFB0-60912A587EBB}" type="presParOf" srcId="{8A52CB9C-35EC-41AF-AC8E-920B791017FC}" destId="{9909F1E5-24EF-4866-B6BC-1C2B81E04233}" srcOrd="5" destOrd="0" presId="urn:microsoft.com/office/officeart/2005/8/layout/orgChart1"/>
    <dgm:cxn modelId="{308F3E82-E2E9-4CB5-80B5-7EFEFC3118E4}" type="presParOf" srcId="{9909F1E5-24EF-4866-B6BC-1C2B81E04233}" destId="{B7338FD4-CAF9-4403-B85D-1DC9DE03A523}" srcOrd="0" destOrd="0" presId="urn:microsoft.com/office/officeart/2005/8/layout/orgChart1"/>
    <dgm:cxn modelId="{7D93158C-EEB5-4EED-83CB-52A49C82A110}" type="presParOf" srcId="{B7338FD4-CAF9-4403-B85D-1DC9DE03A523}" destId="{C9B44A0B-0C42-4AF7-8C4C-C48E0B5EF1B1}" srcOrd="0" destOrd="0" presId="urn:microsoft.com/office/officeart/2005/8/layout/orgChart1"/>
    <dgm:cxn modelId="{A8B150D0-5387-4CB6-9406-131082DB1367}" type="presParOf" srcId="{B7338FD4-CAF9-4403-B85D-1DC9DE03A523}" destId="{E25B7E59-9E7B-4BCD-983D-64398F32A331}" srcOrd="1" destOrd="0" presId="urn:microsoft.com/office/officeart/2005/8/layout/orgChart1"/>
    <dgm:cxn modelId="{CEB525EC-CF45-4FD4-8144-3C286E7D4DF6}" type="presParOf" srcId="{9909F1E5-24EF-4866-B6BC-1C2B81E04233}" destId="{435FEEFA-8458-46D9-8ADE-497C3F8D0999}" srcOrd="1" destOrd="0" presId="urn:microsoft.com/office/officeart/2005/8/layout/orgChart1"/>
    <dgm:cxn modelId="{B6D5693C-905F-49CA-9C54-C045EA3ED5D4}" type="presParOf" srcId="{9909F1E5-24EF-4866-B6BC-1C2B81E04233}" destId="{72BCADDB-9730-488D-9859-03318F1C6C6E}" srcOrd="2" destOrd="0" presId="urn:microsoft.com/office/officeart/2005/8/layout/orgChart1"/>
    <dgm:cxn modelId="{9E38268E-C630-446B-9989-F56F104C13D8}" type="presParOf" srcId="{0266A04A-F38B-49F4-9794-31FFACE8777E}" destId="{5F3E0462-8FF3-4E22-AFE4-858D1AF27C32}"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0B6FC1-5FE3-4823-ABA4-DABB59019F0B}">
      <dsp:nvSpPr>
        <dsp:cNvPr id="0" name=""/>
        <dsp:cNvSpPr/>
      </dsp:nvSpPr>
      <dsp:spPr>
        <a:xfrm>
          <a:off x="4064000" y="2459823"/>
          <a:ext cx="2875309" cy="499020"/>
        </a:xfrm>
        <a:custGeom>
          <a:avLst/>
          <a:gdLst/>
          <a:ahLst/>
          <a:cxnLst/>
          <a:rect l="0" t="0" r="0" b="0"/>
          <a:pathLst>
            <a:path>
              <a:moveTo>
                <a:pt x="0" y="0"/>
              </a:moveTo>
              <a:lnTo>
                <a:pt x="0" y="249510"/>
              </a:lnTo>
              <a:lnTo>
                <a:pt x="2875309" y="249510"/>
              </a:lnTo>
              <a:lnTo>
                <a:pt x="2875309" y="499020"/>
              </a:lnTo>
            </a:path>
          </a:pathLst>
        </a:custGeom>
        <a:noFill/>
        <a:ln w="12700" cap="flat" cmpd="sng" algn="ctr">
          <a:solidFill>
            <a:schemeClr val="accent4">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A2A7E5CD-8CB8-44F8-B1F4-2E26BD119EC4}">
      <dsp:nvSpPr>
        <dsp:cNvPr id="0" name=""/>
        <dsp:cNvSpPr/>
      </dsp:nvSpPr>
      <dsp:spPr>
        <a:xfrm>
          <a:off x="4018280" y="2459823"/>
          <a:ext cx="91440" cy="499020"/>
        </a:xfrm>
        <a:custGeom>
          <a:avLst/>
          <a:gdLst/>
          <a:ahLst/>
          <a:cxnLst/>
          <a:rect l="0" t="0" r="0" b="0"/>
          <a:pathLst>
            <a:path>
              <a:moveTo>
                <a:pt x="45720" y="0"/>
              </a:moveTo>
              <a:lnTo>
                <a:pt x="45720" y="499020"/>
              </a:lnTo>
            </a:path>
          </a:pathLst>
        </a:custGeom>
        <a:noFill/>
        <a:ln w="12700" cap="flat" cmpd="sng" algn="ctr">
          <a:solidFill>
            <a:schemeClr val="accent4">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B07DE390-DD00-42CD-AA47-C117A92EE158}">
      <dsp:nvSpPr>
        <dsp:cNvPr id="0" name=""/>
        <dsp:cNvSpPr/>
      </dsp:nvSpPr>
      <dsp:spPr>
        <a:xfrm>
          <a:off x="1188690" y="2459823"/>
          <a:ext cx="2875309" cy="499020"/>
        </a:xfrm>
        <a:custGeom>
          <a:avLst/>
          <a:gdLst/>
          <a:ahLst/>
          <a:cxnLst/>
          <a:rect l="0" t="0" r="0" b="0"/>
          <a:pathLst>
            <a:path>
              <a:moveTo>
                <a:pt x="2875309" y="0"/>
              </a:moveTo>
              <a:lnTo>
                <a:pt x="2875309" y="249510"/>
              </a:lnTo>
              <a:lnTo>
                <a:pt x="0" y="249510"/>
              </a:lnTo>
              <a:lnTo>
                <a:pt x="0" y="499020"/>
              </a:lnTo>
            </a:path>
          </a:pathLst>
        </a:custGeom>
        <a:noFill/>
        <a:ln w="12700" cap="flat" cmpd="sng" algn="ctr">
          <a:solidFill>
            <a:schemeClr val="accent4">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5FA65C58-4BEF-4AE3-8359-521D66D87CBE}">
      <dsp:nvSpPr>
        <dsp:cNvPr id="0" name=""/>
        <dsp:cNvSpPr/>
      </dsp:nvSpPr>
      <dsp:spPr>
        <a:xfrm>
          <a:off x="2875855" y="1271678"/>
          <a:ext cx="2376289" cy="118814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9050" tIns="19050" rIns="19050" bIns="19050" numCol="1" spcCol="1270" anchor="ctr" anchorCtr="0">
          <a:noAutofit/>
        </a:bodyPr>
        <a:lstStyle/>
        <a:p>
          <a:pPr lvl="0" algn="ctr" defTabSz="1333500">
            <a:lnSpc>
              <a:spcPct val="90000"/>
            </a:lnSpc>
            <a:spcBef>
              <a:spcPct val="0"/>
            </a:spcBef>
            <a:spcAft>
              <a:spcPct val="35000"/>
            </a:spcAft>
          </a:pPr>
          <a:r>
            <a:rPr lang="en-US" sz="3000" kern="1200" dirty="0" smtClean="0"/>
            <a:t>ARIMA Model</a:t>
          </a:r>
          <a:endParaRPr lang="en-US" sz="3000" kern="1200" dirty="0"/>
        </a:p>
      </dsp:txBody>
      <dsp:txXfrm>
        <a:off x="2875855" y="1271678"/>
        <a:ext cx="2376289" cy="1188144"/>
      </dsp:txXfrm>
    </dsp:sp>
    <dsp:sp modelId="{111284AF-A737-44C0-B3B3-0A48373CEF9D}">
      <dsp:nvSpPr>
        <dsp:cNvPr id="0" name=""/>
        <dsp:cNvSpPr/>
      </dsp:nvSpPr>
      <dsp:spPr>
        <a:xfrm>
          <a:off x="545" y="2958843"/>
          <a:ext cx="2376289" cy="1188144"/>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9050" tIns="19050" rIns="19050" bIns="19050" numCol="1" spcCol="1270" anchor="ctr" anchorCtr="0">
          <a:noAutofit/>
        </a:bodyPr>
        <a:lstStyle/>
        <a:p>
          <a:pPr lvl="0" algn="ctr" defTabSz="1333500">
            <a:lnSpc>
              <a:spcPct val="90000"/>
            </a:lnSpc>
            <a:spcBef>
              <a:spcPct val="0"/>
            </a:spcBef>
            <a:spcAft>
              <a:spcPct val="35000"/>
            </a:spcAft>
          </a:pPr>
          <a:r>
            <a:rPr lang="en-US" sz="3000" kern="1200" dirty="0" smtClean="0"/>
            <a:t>Autoregressive (p)</a:t>
          </a:r>
          <a:endParaRPr lang="en-US" sz="3000" kern="1200" dirty="0"/>
        </a:p>
      </dsp:txBody>
      <dsp:txXfrm>
        <a:off x="545" y="2958843"/>
        <a:ext cx="2376289" cy="1188144"/>
      </dsp:txXfrm>
    </dsp:sp>
    <dsp:sp modelId="{7266B88E-9278-4066-AF76-CD8891575F16}">
      <dsp:nvSpPr>
        <dsp:cNvPr id="0" name=""/>
        <dsp:cNvSpPr/>
      </dsp:nvSpPr>
      <dsp:spPr>
        <a:xfrm>
          <a:off x="2875855" y="2958843"/>
          <a:ext cx="2376289" cy="1188144"/>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9050" tIns="19050" rIns="19050" bIns="19050" numCol="1" spcCol="1270" anchor="ctr" anchorCtr="0">
          <a:noAutofit/>
        </a:bodyPr>
        <a:lstStyle/>
        <a:p>
          <a:pPr lvl="0" algn="ctr" defTabSz="1333500">
            <a:lnSpc>
              <a:spcPct val="90000"/>
            </a:lnSpc>
            <a:spcBef>
              <a:spcPct val="0"/>
            </a:spcBef>
            <a:spcAft>
              <a:spcPct val="35000"/>
            </a:spcAft>
          </a:pPr>
          <a:r>
            <a:rPr lang="en-US" sz="3000" kern="1200" dirty="0" smtClean="0"/>
            <a:t>Integrated (d)</a:t>
          </a:r>
          <a:endParaRPr lang="en-US" sz="3000" kern="1200" dirty="0"/>
        </a:p>
      </dsp:txBody>
      <dsp:txXfrm>
        <a:off x="2875855" y="2958843"/>
        <a:ext cx="2376289" cy="1188144"/>
      </dsp:txXfrm>
    </dsp:sp>
    <dsp:sp modelId="{C9B44A0B-0C42-4AF7-8C4C-C48E0B5EF1B1}">
      <dsp:nvSpPr>
        <dsp:cNvPr id="0" name=""/>
        <dsp:cNvSpPr/>
      </dsp:nvSpPr>
      <dsp:spPr>
        <a:xfrm>
          <a:off x="5751165" y="2958843"/>
          <a:ext cx="2376289" cy="1188144"/>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9050" tIns="19050" rIns="19050" bIns="19050" numCol="1" spcCol="1270" anchor="ctr" anchorCtr="0">
          <a:noAutofit/>
        </a:bodyPr>
        <a:lstStyle/>
        <a:p>
          <a:pPr lvl="0" algn="ctr" defTabSz="1333500">
            <a:lnSpc>
              <a:spcPct val="90000"/>
            </a:lnSpc>
            <a:spcBef>
              <a:spcPct val="0"/>
            </a:spcBef>
            <a:spcAft>
              <a:spcPct val="35000"/>
            </a:spcAft>
          </a:pPr>
          <a:r>
            <a:rPr lang="en-US" sz="3000" kern="1200" dirty="0" smtClean="0"/>
            <a:t>Moving Average (q)</a:t>
          </a:r>
          <a:endParaRPr lang="en-US" sz="3000" kern="1200" dirty="0"/>
        </a:p>
      </dsp:txBody>
      <dsp:txXfrm>
        <a:off x="5751165" y="2958843"/>
        <a:ext cx="2376289" cy="1188144"/>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F3BDA6-330C-4173-9514-C377150A563F}" type="datetimeFigureOut">
              <a:rPr lang="en-US" smtClean="0"/>
              <a:t>1/19/2024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4C6A21-A0CA-4A7B-AF8C-E389DA5540EF}" type="slidenum">
              <a:rPr lang="en-US" smtClean="0"/>
              <a:t>‹#›</a:t>
            </a:fld>
            <a:endParaRPr lang="en-US"/>
          </a:p>
        </p:txBody>
      </p:sp>
    </p:spTree>
    <p:extLst>
      <p:ext uri="{BB962C8B-B14F-4D97-AF65-F5344CB8AC3E}">
        <p14:creationId xmlns:p14="http://schemas.microsoft.com/office/powerpoint/2010/main" val="3169232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34C6A21-A0CA-4A7B-AF8C-E389DA5540EF}" type="slidenum">
              <a:rPr lang="en-US" smtClean="0"/>
              <a:t>2</a:t>
            </a:fld>
            <a:endParaRPr lang="en-US"/>
          </a:p>
        </p:txBody>
      </p:sp>
    </p:spTree>
    <p:extLst>
      <p:ext uri="{BB962C8B-B14F-4D97-AF65-F5344CB8AC3E}">
        <p14:creationId xmlns:p14="http://schemas.microsoft.com/office/powerpoint/2010/main" val="3169344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https://chemicals.gov.in/</a:t>
            </a:r>
            <a:endParaRPr lang="en-US" dirty="0"/>
          </a:p>
        </p:txBody>
      </p:sp>
      <p:sp>
        <p:nvSpPr>
          <p:cNvPr id="4" name="Slide Number Placeholder 3"/>
          <p:cNvSpPr>
            <a:spLocks noGrp="1"/>
          </p:cNvSpPr>
          <p:nvPr>
            <p:ph type="sldNum" sz="quarter" idx="10"/>
          </p:nvPr>
        </p:nvSpPr>
        <p:spPr/>
        <p:txBody>
          <a:bodyPr/>
          <a:lstStyle/>
          <a:p>
            <a:fld id="{534C6A21-A0CA-4A7B-AF8C-E389DA5540EF}" type="slidenum">
              <a:rPr lang="en-US" smtClean="0"/>
              <a:t>4</a:t>
            </a:fld>
            <a:endParaRPr lang="en-US"/>
          </a:p>
        </p:txBody>
      </p:sp>
    </p:spTree>
    <p:extLst>
      <p:ext uri="{BB962C8B-B14F-4D97-AF65-F5344CB8AC3E}">
        <p14:creationId xmlns:p14="http://schemas.microsoft.com/office/powerpoint/2010/main" val="1323631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34C6A21-A0CA-4A7B-AF8C-E389DA5540EF}" type="slidenum">
              <a:rPr lang="en-US" smtClean="0"/>
              <a:t>12</a:t>
            </a:fld>
            <a:endParaRPr lang="en-US"/>
          </a:p>
        </p:txBody>
      </p:sp>
    </p:spTree>
    <p:extLst>
      <p:ext uri="{BB962C8B-B14F-4D97-AF65-F5344CB8AC3E}">
        <p14:creationId xmlns:p14="http://schemas.microsoft.com/office/powerpoint/2010/main" val="753125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B76B79F-4D7E-4C00-8DEA-7D010D1173D0}" type="datetime1">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8732F-3A53-4141-9A7F-3FFB7DE825B7}" type="slidenum">
              <a:rPr lang="en-US" smtClean="0"/>
              <a:t>‹#›</a:t>
            </a:fld>
            <a:endParaRPr lang="en-US"/>
          </a:p>
        </p:txBody>
      </p:sp>
    </p:spTree>
    <p:extLst>
      <p:ext uri="{BB962C8B-B14F-4D97-AF65-F5344CB8AC3E}">
        <p14:creationId xmlns:p14="http://schemas.microsoft.com/office/powerpoint/2010/main" val="3964405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24CD2AC-DDCB-4B4C-89D0-9951CA92FBF3}" type="datetime1">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8732F-3A53-4141-9A7F-3FFB7DE825B7}" type="slidenum">
              <a:rPr lang="en-US" smtClean="0"/>
              <a:t>‹#›</a:t>
            </a:fld>
            <a:endParaRPr lang="en-US"/>
          </a:p>
        </p:txBody>
      </p:sp>
    </p:spTree>
    <p:extLst>
      <p:ext uri="{BB962C8B-B14F-4D97-AF65-F5344CB8AC3E}">
        <p14:creationId xmlns:p14="http://schemas.microsoft.com/office/powerpoint/2010/main" val="3830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1CFF4BF-5D3F-4AA2-9DCD-A6F120F8FB5B}" type="datetime1">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8732F-3A53-4141-9A7F-3FFB7DE825B7}" type="slidenum">
              <a:rPr lang="en-US" smtClean="0"/>
              <a:t>‹#›</a:t>
            </a:fld>
            <a:endParaRPr lang="en-US"/>
          </a:p>
        </p:txBody>
      </p:sp>
    </p:spTree>
    <p:extLst>
      <p:ext uri="{BB962C8B-B14F-4D97-AF65-F5344CB8AC3E}">
        <p14:creationId xmlns:p14="http://schemas.microsoft.com/office/powerpoint/2010/main" val="33104794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10C07D7-430E-4045-A72D-A5A41BA00723}" type="datetime1">
              <a:rPr lang="en-US" smtClean="0"/>
              <a:t>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8732F-3A53-4141-9A7F-3FFB7DE825B7}" type="slidenum">
              <a:rPr lang="en-US" smtClean="0"/>
              <a:t>‹#›</a:t>
            </a:fld>
            <a:endParaRPr lang="en-US"/>
          </a:p>
        </p:txBody>
      </p:sp>
    </p:spTree>
    <p:extLst>
      <p:ext uri="{BB962C8B-B14F-4D97-AF65-F5344CB8AC3E}">
        <p14:creationId xmlns:p14="http://schemas.microsoft.com/office/powerpoint/2010/main" val="3052333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08D1393-3E94-42FD-8E2C-8F7A90615B8D}" type="datetime1">
              <a:rPr lang="en-US" smtClean="0"/>
              <a:t>1/19/2024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68732F-3A53-4141-9A7F-3FFB7DE825B7}" type="slidenum">
              <a:rPr lang="en-US" smtClean="0"/>
              <a:t>‹#›</a:t>
            </a:fld>
            <a:endParaRPr lang="en-US"/>
          </a:p>
        </p:txBody>
      </p:sp>
    </p:spTree>
    <p:extLst>
      <p:ext uri="{BB962C8B-B14F-4D97-AF65-F5344CB8AC3E}">
        <p14:creationId xmlns:p14="http://schemas.microsoft.com/office/powerpoint/2010/main" val="4035016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0F7BD53-824C-4D36-8159-C0580C771697}" type="datetime1">
              <a:rPr lang="en-US" smtClean="0"/>
              <a:t>1/19/2024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68732F-3A53-4141-9A7F-3FFB7DE825B7}" type="slidenum">
              <a:rPr lang="en-US" smtClean="0"/>
              <a:t>‹#›</a:t>
            </a:fld>
            <a:endParaRPr lang="en-US"/>
          </a:p>
        </p:txBody>
      </p:sp>
    </p:spTree>
    <p:extLst>
      <p:ext uri="{BB962C8B-B14F-4D97-AF65-F5344CB8AC3E}">
        <p14:creationId xmlns:p14="http://schemas.microsoft.com/office/powerpoint/2010/main" val="11601108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AB5645-B541-45E5-9F8E-70783D6AAA36}" type="datetime1">
              <a:rPr lang="en-US" smtClean="0"/>
              <a:t>1/19/2024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68732F-3A53-4141-9A7F-3FFB7DE825B7}" type="slidenum">
              <a:rPr lang="en-US" smtClean="0"/>
              <a:t>‹#›</a:t>
            </a:fld>
            <a:endParaRPr lang="en-US"/>
          </a:p>
        </p:txBody>
      </p:sp>
    </p:spTree>
    <p:extLst>
      <p:ext uri="{BB962C8B-B14F-4D97-AF65-F5344CB8AC3E}">
        <p14:creationId xmlns:p14="http://schemas.microsoft.com/office/powerpoint/2010/main" val="3748639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5080205-1AEC-4A0E-A890-603AAEBB9A59}" type="datetime1">
              <a:rPr lang="en-US" smtClean="0"/>
              <a:t>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8732F-3A53-4141-9A7F-3FFB7DE825B7}" type="slidenum">
              <a:rPr lang="en-US" smtClean="0"/>
              <a:t>‹#›</a:t>
            </a:fld>
            <a:endParaRPr lang="en-US"/>
          </a:p>
        </p:txBody>
      </p:sp>
    </p:spTree>
    <p:extLst>
      <p:ext uri="{BB962C8B-B14F-4D97-AF65-F5344CB8AC3E}">
        <p14:creationId xmlns:p14="http://schemas.microsoft.com/office/powerpoint/2010/main" val="1033849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906ACD-892F-41F2-86DC-674A34EEE227}" type="datetime1">
              <a:rPr lang="en-US" smtClean="0"/>
              <a:t>1/19/2024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8732F-3A53-4141-9A7F-3FFB7DE825B7}" type="slidenum">
              <a:rPr lang="en-US" smtClean="0"/>
              <a:t>‹#›</a:t>
            </a:fld>
            <a:endParaRPr lang="en-US"/>
          </a:p>
        </p:txBody>
      </p:sp>
    </p:spTree>
    <p:extLst>
      <p:ext uri="{BB962C8B-B14F-4D97-AF65-F5344CB8AC3E}">
        <p14:creationId xmlns:p14="http://schemas.microsoft.com/office/powerpoint/2010/main" val="938734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887E40B-6A71-4911-B74E-3A7A95BEBC97}" type="datetime1">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8732F-3A53-4141-9A7F-3FFB7DE825B7}" type="slidenum">
              <a:rPr lang="en-US" smtClean="0"/>
              <a:t>‹#›</a:t>
            </a:fld>
            <a:endParaRPr lang="en-US"/>
          </a:p>
        </p:txBody>
      </p:sp>
    </p:spTree>
    <p:extLst>
      <p:ext uri="{BB962C8B-B14F-4D97-AF65-F5344CB8AC3E}">
        <p14:creationId xmlns:p14="http://schemas.microsoft.com/office/powerpoint/2010/main" val="9299504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FCB643-912D-44ED-AC32-55C2CB1D5C03}" type="datetime1">
              <a:rPr lang="en-US" smtClean="0"/>
              <a:t>1/19/2024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8732F-3A53-4141-9A7F-3FFB7DE825B7}" type="slidenum">
              <a:rPr lang="en-US" smtClean="0"/>
              <a:t>‹#›</a:t>
            </a:fld>
            <a:endParaRPr lang="en-US"/>
          </a:p>
        </p:txBody>
      </p:sp>
    </p:spTree>
    <p:extLst>
      <p:ext uri="{BB962C8B-B14F-4D97-AF65-F5344CB8AC3E}">
        <p14:creationId xmlns:p14="http://schemas.microsoft.com/office/powerpoint/2010/main" val="1776592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9D1BAD-6F4B-44CF-8889-4354E36B8544}" type="datetime1">
              <a:rPr lang="en-US" smtClean="0"/>
              <a:t>1/19/2024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68732F-3A53-4141-9A7F-3FFB7DE825B7}" type="slidenum">
              <a:rPr lang="en-US" smtClean="0"/>
              <a:t>‹#›</a:t>
            </a:fld>
            <a:endParaRPr lang="en-US"/>
          </a:p>
        </p:txBody>
      </p:sp>
    </p:spTree>
    <p:extLst>
      <p:ext uri="{BB962C8B-B14F-4D97-AF65-F5344CB8AC3E}">
        <p14:creationId xmlns:p14="http://schemas.microsoft.com/office/powerpoint/2010/main" val="333264960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microsoft.com/office/2007/relationships/hdphoto" Target="../media/hdphoto1.wdp"/><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9.emf"/></Relationships>
</file>

<file path=ppt/slides/_rels/slide2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2.emf"/></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177421" y="407963"/>
            <a:ext cx="9840036" cy="769441"/>
          </a:xfrm>
          <a:prstGeom prst="rect">
            <a:avLst/>
          </a:prstGeom>
          <a:noFill/>
        </p:spPr>
        <p:txBody>
          <a:bodyPr wrap="square" rtlCol="0">
            <a:spAutoFit/>
          </a:bodyPr>
          <a:lstStyle/>
          <a:p>
            <a:r>
              <a:rPr lang="en-US" sz="4400" b="1" dirty="0" err="1" smtClean="0">
                <a:solidFill>
                  <a:schemeClr val="accent1">
                    <a:lumMod val="50000"/>
                  </a:schemeClr>
                </a:solidFill>
                <a:latin typeface="Times New Roman" panose="02020603050405020304" pitchFamily="18" charset="0"/>
                <a:cs typeface="Times New Roman" panose="02020603050405020304" pitchFamily="18" charset="0"/>
              </a:rPr>
              <a:t>Mohanlal</a:t>
            </a:r>
            <a:r>
              <a:rPr lang="en-US" sz="4400" b="1" dirty="0" smtClean="0">
                <a:solidFill>
                  <a:schemeClr val="accent1">
                    <a:lumMod val="50000"/>
                  </a:schemeClr>
                </a:solidFill>
                <a:latin typeface="Times New Roman" panose="02020603050405020304" pitchFamily="18" charset="0"/>
                <a:cs typeface="Times New Roman" panose="02020603050405020304" pitchFamily="18" charset="0"/>
              </a:rPr>
              <a:t> </a:t>
            </a:r>
            <a:r>
              <a:rPr lang="en-US" sz="4400" b="1" dirty="0" err="1" smtClean="0">
                <a:solidFill>
                  <a:schemeClr val="accent1">
                    <a:lumMod val="50000"/>
                  </a:schemeClr>
                </a:solidFill>
                <a:latin typeface="Times New Roman" panose="02020603050405020304" pitchFamily="18" charset="0"/>
                <a:cs typeface="Times New Roman" panose="02020603050405020304" pitchFamily="18" charset="0"/>
              </a:rPr>
              <a:t>Sukhadia</a:t>
            </a:r>
            <a:r>
              <a:rPr lang="en-US" sz="4400" b="1" dirty="0" smtClean="0">
                <a:solidFill>
                  <a:schemeClr val="accent1">
                    <a:lumMod val="50000"/>
                  </a:schemeClr>
                </a:solidFill>
                <a:latin typeface="Times New Roman" panose="02020603050405020304" pitchFamily="18" charset="0"/>
                <a:cs typeface="Times New Roman" panose="02020603050405020304" pitchFamily="18" charset="0"/>
              </a:rPr>
              <a:t> University, Udaipur</a:t>
            </a:r>
            <a:endParaRPr lang="en-US" sz="4400" b="1" dirty="0">
              <a:solidFill>
                <a:schemeClr val="accent1">
                  <a:lumMod val="50000"/>
                </a:schemeClr>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31804" t="3453" r="31661" b="2625"/>
          <a:stretch/>
        </p:blipFill>
        <p:spPr>
          <a:xfrm>
            <a:off x="10194878" y="407963"/>
            <a:ext cx="1501252" cy="1501253"/>
          </a:xfrm>
          <a:prstGeom prst="rect">
            <a:avLst/>
          </a:prstGeom>
        </p:spPr>
      </p:pic>
      <p:sp>
        <p:nvSpPr>
          <p:cNvPr id="6" name="TextBox 5"/>
          <p:cNvSpPr txBox="1"/>
          <p:nvPr/>
        </p:nvSpPr>
        <p:spPr>
          <a:xfrm>
            <a:off x="1228649" y="1859669"/>
            <a:ext cx="8420668" cy="584775"/>
          </a:xfrm>
          <a:prstGeom prst="rect">
            <a:avLst/>
          </a:prstGeom>
          <a:noFill/>
        </p:spPr>
        <p:txBody>
          <a:bodyPr wrap="square" rtlCol="0">
            <a:spAutoFit/>
          </a:bodyPr>
          <a:lstStyle/>
          <a:p>
            <a:r>
              <a:rPr lang="en-US" sz="3200" b="1" dirty="0" smtClean="0">
                <a:solidFill>
                  <a:schemeClr val="accent6">
                    <a:lumMod val="50000"/>
                  </a:schemeClr>
                </a:solidFill>
              </a:rPr>
              <a:t>Department OF Mathematics and Statistics</a:t>
            </a:r>
            <a:endParaRPr lang="en-US" sz="3200" b="1" dirty="0">
              <a:solidFill>
                <a:schemeClr val="accent6">
                  <a:lumMod val="50000"/>
                </a:schemeClr>
              </a:solidFill>
            </a:endParaRPr>
          </a:p>
        </p:txBody>
      </p:sp>
      <p:sp>
        <p:nvSpPr>
          <p:cNvPr id="7" name="TextBox 6"/>
          <p:cNvSpPr txBox="1"/>
          <p:nvPr/>
        </p:nvSpPr>
        <p:spPr>
          <a:xfrm>
            <a:off x="362016" y="5632100"/>
            <a:ext cx="5076967" cy="830997"/>
          </a:xfrm>
          <a:prstGeom prst="rect">
            <a:avLst/>
          </a:prstGeom>
          <a:noFill/>
        </p:spPr>
        <p:txBody>
          <a:bodyPr wrap="square" rtlCol="0">
            <a:spAutoFit/>
          </a:bodyPr>
          <a:lstStyle/>
          <a:p>
            <a:r>
              <a:rPr lang="en-US" sz="2400" b="1" dirty="0" smtClean="0">
                <a:solidFill>
                  <a:schemeClr val="accent2">
                    <a:lumMod val="50000"/>
                  </a:schemeClr>
                </a:solidFill>
              </a:rPr>
              <a:t>Presented By – Anjali </a:t>
            </a:r>
            <a:r>
              <a:rPr lang="en-US" sz="2400" b="1" dirty="0" err="1" smtClean="0">
                <a:solidFill>
                  <a:schemeClr val="accent2">
                    <a:lumMod val="50000"/>
                  </a:schemeClr>
                </a:solidFill>
              </a:rPr>
              <a:t>Todawat</a:t>
            </a:r>
            <a:r>
              <a:rPr lang="en-US" sz="2400" b="1" dirty="0" smtClean="0">
                <a:solidFill>
                  <a:schemeClr val="accent2">
                    <a:lumMod val="50000"/>
                  </a:schemeClr>
                </a:solidFill>
              </a:rPr>
              <a:t> </a:t>
            </a:r>
          </a:p>
          <a:p>
            <a:r>
              <a:rPr lang="en-US" sz="2400" b="1" dirty="0">
                <a:solidFill>
                  <a:schemeClr val="accent2">
                    <a:lumMod val="50000"/>
                  </a:schemeClr>
                </a:solidFill>
              </a:rPr>
              <a:t> </a:t>
            </a:r>
            <a:r>
              <a:rPr lang="en-US" sz="2400" b="1" dirty="0" smtClean="0">
                <a:solidFill>
                  <a:schemeClr val="accent2">
                    <a:lumMod val="50000"/>
                  </a:schemeClr>
                </a:solidFill>
              </a:rPr>
              <a:t>                          (M.Sc. Statistics IV </a:t>
            </a:r>
            <a:r>
              <a:rPr lang="en-US" sz="2400" b="1" dirty="0" err="1" smtClean="0">
                <a:solidFill>
                  <a:schemeClr val="accent2">
                    <a:lumMod val="50000"/>
                  </a:schemeClr>
                </a:solidFill>
              </a:rPr>
              <a:t>Sem</a:t>
            </a:r>
            <a:r>
              <a:rPr lang="en-US" sz="2400" b="1" dirty="0" smtClean="0">
                <a:solidFill>
                  <a:schemeClr val="accent2">
                    <a:lumMod val="50000"/>
                  </a:schemeClr>
                </a:solidFill>
              </a:rPr>
              <a:t>)</a:t>
            </a:r>
            <a:endParaRPr lang="en-US" sz="2400" b="1" dirty="0">
              <a:solidFill>
                <a:schemeClr val="accent2">
                  <a:lumMod val="50000"/>
                </a:schemeClr>
              </a:solidFill>
            </a:endParaRPr>
          </a:p>
        </p:txBody>
      </p:sp>
      <p:sp>
        <p:nvSpPr>
          <p:cNvPr id="8" name="TextBox 7"/>
          <p:cNvSpPr txBox="1"/>
          <p:nvPr/>
        </p:nvSpPr>
        <p:spPr>
          <a:xfrm>
            <a:off x="3774521" y="2593714"/>
            <a:ext cx="2388359" cy="400110"/>
          </a:xfrm>
          <a:prstGeom prst="rect">
            <a:avLst/>
          </a:prstGeom>
          <a:noFill/>
        </p:spPr>
        <p:txBody>
          <a:bodyPr wrap="square" rtlCol="0">
            <a:spAutoFit/>
          </a:bodyPr>
          <a:lstStyle/>
          <a:p>
            <a:r>
              <a:rPr lang="en-US" sz="2000" b="1" dirty="0" smtClean="0">
                <a:solidFill>
                  <a:schemeClr val="accent1">
                    <a:lumMod val="50000"/>
                  </a:schemeClr>
                </a:solidFill>
              </a:rPr>
              <a:t>Session :– 2021-2023</a:t>
            </a:r>
            <a:endParaRPr lang="en-US" sz="2000" b="1" dirty="0">
              <a:solidFill>
                <a:schemeClr val="accent1">
                  <a:lumMod val="50000"/>
                </a:schemeClr>
              </a:solidFill>
            </a:endParaRPr>
          </a:p>
        </p:txBody>
      </p:sp>
      <p:sp>
        <p:nvSpPr>
          <p:cNvPr id="10" name="TextBox 9"/>
          <p:cNvSpPr txBox="1"/>
          <p:nvPr/>
        </p:nvSpPr>
        <p:spPr>
          <a:xfrm>
            <a:off x="600502" y="3543204"/>
            <a:ext cx="12137059" cy="1754326"/>
          </a:xfrm>
          <a:prstGeom prst="rect">
            <a:avLst/>
          </a:prstGeom>
          <a:noFill/>
        </p:spPr>
        <p:txBody>
          <a:bodyPr wrap="square" rtlCol="0">
            <a:spAutoFit/>
          </a:bodyPr>
          <a:lstStyle/>
          <a:p>
            <a:r>
              <a:rPr lang="en-US" sz="3600" b="1" dirty="0" smtClean="0"/>
              <a:t>“ANALYSIS </a:t>
            </a:r>
            <a:r>
              <a:rPr lang="en-US" sz="3600" b="1" dirty="0"/>
              <a:t>&amp; </a:t>
            </a:r>
            <a:r>
              <a:rPr lang="en-US" sz="3600" b="1" dirty="0" smtClean="0"/>
              <a:t>FORECASTING</a:t>
            </a:r>
            <a:r>
              <a:rPr lang="en-US" sz="3600" dirty="0"/>
              <a:t> </a:t>
            </a:r>
            <a:r>
              <a:rPr lang="en-US" sz="3600" b="1" dirty="0" smtClean="0"/>
              <a:t>OF</a:t>
            </a:r>
            <a:r>
              <a:rPr lang="en-US" sz="3600" dirty="0"/>
              <a:t> </a:t>
            </a:r>
            <a:r>
              <a:rPr lang="en-US" sz="3600" b="1" dirty="0" smtClean="0"/>
              <a:t>PRODUCTION </a:t>
            </a:r>
            <a:r>
              <a:rPr lang="en-US" sz="3600" b="1" dirty="0"/>
              <a:t>OF MAJOR </a:t>
            </a:r>
            <a:r>
              <a:rPr lang="en-US" sz="3600" b="1" dirty="0" smtClean="0"/>
              <a:t>PETROCHEMICAL</a:t>
            </a:r>
            <a:r>
              <a:rPr lang="en-US" sz="3600" dirty="0"/>
              <a:t> </a:t>
            </a:r>
            <a:r>
              <a:rPr lang="en-US" sz="3600" b="1" dirty="0" smtClean="0"/>
              <a:t>PRODUCTS </a:t>
            </a:r>
            <a:r>
              <a:rPr lang="en-US" sz="3600" b="1" dirty="0"/>
              <a:t>IN </a:t>
            </a:r>
            <a:r>
              <a:rPr lang="en-US" sz="3600" b="1" dirty="0" smtClean="0"/>
              <a:t>INDIA”</a:t>
            </a:r>
            <a:endParaRPr lang="en-US" sz="3600" dirty="0"/>
          </a:p>
          <a:p>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2" name="Slide Number Placeholder 1"/>
          <p:cNvSpPr>
            <a:spLocks noGrp="1"/>
          </p:cNvSpPr>
          <p:nvPr>
            <p:ph type="sldNum" sz="quarter" idx="12"/>
          </p:nvPr>
        </p:nvSpPr>
        <p:spPr/>
        <p:txBody>
          <a:bodyPr/>
          <a:lstStyle/>
          <a:p>
            <a:fld id="{CC68732F-3A53-4141-9A7F-3FFB7DE825B7}" type="slidenum">
              <a:rPr lang="en-US" sz="1600" b="1" smtClean="0">
                <a:solidFill>
                  <a:schemeClr val="bg1"/>
                </a:solidFill>
              </a:rPr>
              <a:t>1</a:t>
            </a:fld>
            <a:endParaRPr lang="en-US" b="1" dirty="0">
              <a:solidFill>
                <a:schemeClr val="bg1"/>
              </a:solidFill>
            </a:endParaRPr>
          </a:p>
        </p:txBody>
      </p:sp>
      <p:sp>
        <p:nvSpPr>
          <p:cNvPr id="11" name="TextBox 10"/>
          <p:cNvSpPr txBox="1"/>
          <p:nvPr/>
        </p:nvSpPr>
        <p:spPr>
          <a:xfrm>
            <a:off x="600502" y="1218595"/>
            <a:ext cx="9103056" cy="584775"/>
          </a:xfrm>
          <a:prstGeom prst="rect">
            <a:avLst/>
          </a:prstGeom>
          <a:noFill/>
        </p:spPr>
        <p:txBody>
          <a:bodyPr wrap="square" rtlCol="0">
            <a:spAutoFit/>
          </a:bodyPr>
          <a:lstStyle/>
          <a:p>
            <a:pPr algn="ctr"/>
            <a:r>
              <a:rPr lang="en-US" sz="3200" b="1" dirty="0" smtClean="0">
                <a:solidFill>
                  <a:srgbClr val="002060"/>
                </a:solidFill>
              </a:rPr>
              <a:t>University College of Science</a:t>
            </a:r>
            <a:endParaRPr lang="en-US" sz="2000" b="1" dirty="0">
              <a:solidFill>
                <a:srgbClr val="002060"/>
              </a:solidFill>
            </a:endParaRPr>
          </a:p>
        </p:txBody>
      </p:sp>
    </p:spTree>
    <p:extLst>
      <p:ext uri="{BB962C8B-B14F-4D97-AF65-F5344CB8AC3E}">
        <p14:creationId xmlns:p14="http://schemas.microsoft.com/office/powerpoint/2010/main" val="40699212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alpha val="12000"/>
          </a:schemeClr>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Picture 7"/>
          <p:cNvPicPr>
            <a:picLocks noChangeAspect="1"/>
          </p:cNvPicPr>
          <p:nvPr/>
        </p:nvPicPr>
        <p:blipFill rotWithShape="1">
          <a:blip r:embed="rId4">
            <a:extLst>
              <a:ext uri="{BEBA8EAE-BF5A-486C-A8C5-ECC9F3942E4B}">
                <a14:imgProps xmlns:a14="http://schemas.microsoft.com/office/drawing/2010/main">
                  <a14:imgLayer r:embed="rId5">
                    <a14:imgEffect>
                      <a14:artisticBlur/>
                    </a14:imgEffect>
                    <a14:imgEffect>
                      <a14:brightnessContrast bright="-40000"/>
                    </a14:imgEffect>
                  </a14:imgLayer>
                </a14:imgProps>
              </a:ext>
              <a:ext uri="{28A0092B-C50C-407E-A947-70E740481C1C}">
                <a14:useLocalDpi xmlns:a14="http://schemas.microsoft.com/office/drawing/2010/main" val="0"/>
              </a:ext>
            </a:extLst>
          </a:blip>
          <a:srcRect r="48283"/>
          <a:stretch/>
        </p:blipFill>
        <p:spPr>
          <a:xfrm>
            <a:off x="0" y="0"/>
            <a:ext cx="6305266" cy="6858000"/>
          </a:xfrm>
          <a:prstGeom prst="rect">
            <a:avLst/>
          </a:prstGeom>
        </p:spPr>
      </p:pic>
      <p:sp>
        <p:nvSpPr>
          <p:cNvPr id="6" name="TextBox 5"/>
          <p:cNvSpPr txBox="1"/>
          <p:nvPr/>
        </p:nvSpPr>
        <p:spPr>
          <a:xfrm>
            <a:off x="1648860" y="583210"/>
            <a:ext cx="2898364" cy="646331"/>
          </a:xfrm>
          <a:prstGeom prst="rect">
            <a:avLst/>
          </a:prstGeom>
          <a:noFill/>
        </p:spPr>
        <p:txBody>
          <a:bodyPr wrap="square" rtlCol="0">
            <a:spAutoFit/>
          </a:bodyPr>
          <a:lstStyle/>
          <a:p>
            <a:pPr algn="ctr"/>
            <a:r>
              <a:rPr lang="en-US" sz="3600" b="1" u="sng" dirty="0" smtClean="0">
                <a:solidFill>
                  <a:schemeClr val="bg1"/>
                </a:solidFill>
              </a:rPr>
              <a:t>OBJECT</a:t>
            </a:r>
            <a:endParaRPr lang="en-US" b="1" u="sng" dirty="0">
              <a:solidFill>
                <a:schemeClr val="bg1"/>
              </a:solidFill>
            </a:endParaRPr>
          </a:p>
        </p:txBody>
      </p:sp>
      <p:sp>
        <p:nvSpPr>
          <p:cNvPr id="5" name="TextBox 4"/>
          <p:cNvSpPr txBox="1"/>
          <p:nvPr/>
        </p:nvSpPr>
        <p:spPr>
          <a:xfrm>
            <a:off x="160216" y="1567092"/>
            <a:ext cx="6414448" cy="4524315"/>
          </a:xfrm>
          <a:prstGeom prst="rect">
            <a:avLst/>
          </a:prstGeom>
          <a:noFill/>
        </p:spPr>
        <p:txBody>
          <a:bodyPr wrap="square" rtlCol="0">
            <a:spAutoFit/>
          </a:bodyPr>
          <a:lstStyle/>
          <a:p>
            <a:r>
              <a:rPr lang="en-US" sz="3200" b="1" dirty="0" smtClean="0">
                <a:solidFill>
                  <a:schemeClr val="bg1"/>
                </a:solidFill>
              </a:rPr>
              <a:t> </a:t>
            </a:r>
            <a:r>
              <a:rPr lang="en-US" sz="3200" dirty="0">
                <a:solidFill>
                  <a:schemeClr val="bg1"/>
                </a:solidFill>
              </a:rPr>
              <a:t>Our objective is to </a:t>
            </a:r>
            <a:endParaRPr lang="en-US" sz="3200" dirty="0" smtClean="0">
              <a:solidFill>
                <a:schemeClr val="bg1"/>
              </a:solidFill>
            </a:endParaRPr>
          </a:p>
          <a:p>
            <a:pPr marL="457200" indent="-457200">
              <a:buFont typeface="Arial" panose="020B0604020202020204" pitchFamily="34" charset="0"/>
              <a:buChar char="•"/>
            </a:pPr>
            <a:r>
              <a:rPr lang="en-US" sz="3200" dirty="0" smtClean="0">
                <a:solidFill>
                  <a:schemeClr val="bg1"/>
                </a:solidFill>
              </a:rPr>
              <a:t>Graph </a:t>
            </a:r>
            <a:r>
              <a:rPr lang="en-US" sz="3200" dirty="0">
                <a:solidFill>
                  <a:schemeClr val="bg1"/>
                </a:solidFill>
              </a:rPr>
              <a:t>the Data of some major petrochemical products for the years 2014 to 2022.</a:t>
            </a:r>
          </a:p>
          <a:p>
            <a:pPr marL="457200" lvl="0" indent="-457200">
              <a:buFont typeface="Arial" panose="020B0604020202020204" pitchFamily="34" charset="0"/>
              <a:buChar char="•"/>
            </a:pPr>
            <a:r>
              <a:rPr lang="en-US" sz="3200" dirty="0">
                <a:solidFill>
                  <a:schemeClr val="bg1"/>
                </a:solidFill>
              </a:rPr>
              <a:t>Computing the future </a:t>
            </a:r>
            <a:r>
              <a:rPr lang="en-US" sz="3200" dirty="0" smtClean="0">
                <a:solidFill>
                  <a:schemeClr val="bg1"/>
                </a:solidFill>
              </a:rPr>
              <a:t>trend (5 years) </a:t>
            </a:r>
            <a:r>
              <a:rPr lang="en-US" sz="3200" dirty="0">
                <a:solidFill>
                  <a:schemeClr val="bg1"/>
                </a:solidFill>
              </a:rPr>
              <a:t>using ARIMA </a:t>
            </a:r>
            <a:r>
              <a:rPr lang="en-US" sz="3200" dirty="0" smtClean="0">
                <a:solidFill>
                  <a:schemeClr val="bg1"/>
                </a:solidFill>
              </a:rPr>
              <a:t>Modelling.</a:t>
            </a:r>
            <a:endParaRPr lang="en-US" sz="3200" dirty="0">
              <a:solidFill>
                <a:schemeClr val="bg1"/>
              </a:solidFill>
            </a:endParaRPr>
          </a:p>
          <a:p>
            <a:r>
              <a:rPr lang="en-US" sz="3200" dirty="0">
                <a:solidFill>
                  <a:schemeClr val="bg1"/>
                </a:solidFill>
              </a:rPr>
              <a:t>Using Microsoft Excel and R programing language.</a:t>
            </a:r>
          </a:p>
          <a:p>
            <a:pPr algn="ctr"/>
            <a:endParaRPr lang="en-US" sz="3200" dirty="0">
              <a:solidFill>
                <a:schemeClr val="bg1"/>
              </a:solidFill>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rotWithShape="1">
          <a:blip r:embed="rId6">
            <a:extLst>
              <a:ext uri="{28A0092B-C50C-407E-A947-70E740481C1C}">
                <a14:useLocalDpi xmlns:a14="http://schemas.microsoft.com/office/drawing/2010/main" val="0"/>
              </a:ext>
            </a:extLst>
          </a:blip>
          <a:srcRect l="14541" r="13248"/>
          <a:stretch/>
        </p:blipFill>
        <p:spPr>
          <a:xfrm rot="858355">
            <a:off x="7417553" y="882084"/>
            <a:ext cx="3902692" cy="5131558"/>
          </a:xfrm>
          <a:prstGeom prst="rect">
            <a:avLst/>
          </a:prstGeom>
        </p:spPr>
      </p:pic>
    </p:spTree>
    <p:extLst>
      <p:ext uri="{BB962C8B-B14F-4D97-AF65-F5344CB8AC3E}">
        <p14:creationId xmlns:p14="http://schemas.microsoft.com/office/powerpoint/2010/main" val="8183870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0-#ppt_w/2"/>
                                          </p:val>
                                        </p:tav>
                                        <p:tav tm="100000">
                                          <p:val>
                                            <p:strVal val="#ppt_x"/>
                                          </p:val>
                                        </p:tav>
                                      </p:tavLst>
                                    </p:anim>
                                    <p:anim calcmode="lin" valueType="num">
                                      <p:cBhvr additive="base">
                                        <p:cTn id="8" dur="10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0-#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1000" fill="hold"/>
                                        <p:tgtEl>
                                          <p:spTgt spid="5"/>
                                        </p:tgtEl>
                                        <p:attrNameLst>
                                          <p:attrName>ppt_x</p:attrName>
                                        </p:attrNameLst>
                                      </p:cBhvr>
                                      <p:tavLst>
                                        <p:tav tm="0">
                                          <p:val>
                                            <p:strVal val="0-#ppt_w/2"/>
                                          </p:val>
                                        </p:tav>
                                        <p:tav tm="100000">
                                          <p:val>
                                            <p:strVal val="#ppt_x"/>
                                          </p:val>
                                        </p:tav>
                                      </p:tavLst>
                                    </p:anim>
                                    <p:anim calcmode="lin" valueType="num">
                                      <p:cBhvr additive="base">
                                        <p:cTn id="16" dur="1000" fill="hold"/>
                                        <p:tgtEl>
                                          <p:spTgt spid="5"/>
                                        </p:tgtEl>
                                        <p:attrNameLst>
                                          <p:attrName>ppt_y</p:attrName>
                                        </p:attrNameLst>
                                      </p:cBhvr>
                                      <p:tavLst>
                                        <p:tav tm="0">
                                          <p:val>
                                            <p:strVal val="#ppt_y"/>
                                          </p:val>
                                        </p:tav>
                                        <p:tav tm="100000">
                                          <p:val>
                                            <p:strVal val="#ppt_y"/>
                                          </p:val>
                                        </p:tav>
                                      </p:tavLst>
                                    </p:anim>
                                  </p:childTnLst>
                                </p:cTn>
                              </p:par>
                            </p:childTnLst>
                          </p:cTn>
                        </p:par>
                        <p:par>
                          <p:cTn id="17" fill="hold">
                            <p:stCondLst>
                              <p:cond delay="1000"/>
                            </p:stCondLst>
                            <p:childTnLst>
                              <p:par>
                                <p:cTn id="18" presetID="22" presetClass="entr" presetSubtype="4"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Slide Number Placeholder 1"/>
          <p:cNvSpPr>
            <a:spLocks noGrp="1"/>
          </p:cNvSpPr>
          <p:nvPr>
            <p:ph type="sldNum" sz="quarter" idx="12"/>
          </p:nvPr>
        </p:nvSpPr>
        <p:spPr/>
        <p:txBody>
          <a:bodyPr/>
          <a:lstStyle/>
          <a:p>
            <a:fld id="{CC68732F-3A53-4141-9A7F-3FFB7DE825B7}" type="slidenum">
              <a:rPr lang="en-US" smtClean="0"/>
              <a:t>3</a:t>
            </a:fld>
            <a:endParaRPr lang="en-US"/>
          </a:p>
        </p:txBody>
      </p:sp>
      <p:sp>
        <p:nvSpPr>
          <p:cNvPr id="5" name="TextBox 4"/>
          <p:cNvSpPr txBox="1"/>
          <p:nvPr/>
        </p:nvSpPr>
        <p:spPr>
          <a:xfrm>
            <a:off x="409433" y="532263"/>
            <a:ext cx="11150221" cy="4216539"/>
          </a:xfrm>
          <a:prstGeom prst="rect">
            <a:avLst/>
          </a:prstGeom>
          <a:noFill/>
        </p:spPr>
        <p:txBody>
          <a:bodyPr wrap="square" rtlCol="0">
            <a:spAutoFit/>
          </a:bodyPr>
          <a:lstStyle/>
          <a:p>
            <a:pPr algn="ctr"/>
            <a:r>
              <a:rPr lang="en-US" sz="3600" b="1" u="sng" dirty="0" smtClean="0">
                <a:solidFill>
                  <a:schemeClr val="bg1"/>
                </a:solidFill>
              </a:rPr>
              <a:t>Abstract</a:t>
            </a:r>
          </a:p>
          <a:p>
            <a:pPr algn="ctr"/>
            <a:endParaRPr lang="en-US" sz="3600" b="1" u="sng" dirty="0" smtClean="0">
              <a:solidFill>
                <a:schemeClr val="bg1"/>
              </a:solidFill>
            </a:endParaRPr>
          </a:p>
          <a:p>
            <a:r>
              <a:rPr lang="en-US" sz="2800" b="1" dirty="0" smtClean="0">
                <a:solidFill>
                  <a:schemeClr val="bg1"/>
                </a:solidFill>
              </a:rPr>
              <a:t>The present study attempts to predict the future production of some of the major </a:t>
            </a:r>
            <a:r>
              <a:rPr lang="en-US" sz="2800" b="1" dirty="0" smtClean="0">
                <a:solidFill>
                  <a:schemeClr val="bg1"/>
                </a:solidFill>
              </a:rPr>
              <a:t>petrochemical </a:t>
            </a:r>
            <a:r>
              <a:rPr lang="en-US" sz="2800" b="1" dirty="0" smtClean="0">
                <a:solidFill>
                  <a:schemeClr val="bg1"/>
                </a:solidFill>
              </a:rPr>
              <a:t>products using the past productions of these products </a:t>
            </a:r>
            <a:r>
              <a:rPr lang="en-US" sz="2800" b="1" dirty="0" smtClean="0">
                <a:solidFill>
                  <a:schemeClr val="bg1"/>
                </a:solidFill>
              </a:rPr>
              <a:t>over </a:t>
            </a:r>
            <a:r>
              <a:rPr lang="en-US" sz="2800" b="1" dirty="0" smtClean="0">
                <a:solidFill>
                  <a:schemeClr val="bg1"/>
                </a:solidFill>
              </a:rPr>
              <a:t>the time period of 2014 to </a:t>
            </a:r>
            <a:r>
              <a:rPr lang="en-US" sz="2800" b="1" dirty="0" smtClean="0">
                <a:solidFill>
                  <a:schemeClr val="bg1"/>
                </a:solidFill>
              </a:rPr>
              <a:t>2022. </a:t>
            </a:r>
            <a:r>
              <a:rPr lang="en-US" sz="2800" b="1" dirty="0" smtClean="0">
                <a:solidFill>
                  <a:schemeClr val="bg1"/>
                </a:solidFill>
              </a:rPr>
              <a:t>For this purpose I am using a Time Series Model viz. ARIMA Model, which is used in general for predicting future values based on past values</a:t>
            </a:r>
            <a:r>
              <a:rPr lang="en-US" sz="2800" b="1" dirty="0">
                <a:solidFill>
                  <a:schemeClr val="bg1"/>
                </a:solidFill>
              </a:rPr>
              <a:t>. ARIMA makes use of lagged moving averages to smooth time series data</a:t>
            </a:r>
            <a:r>
              <a:rPr lang="en-US" sz="2800" b="1" dirty="0" smtClean="0">
                <a:solidFill>
                  <a:schemeClr val="bg1"/>
                </a:solidFill>
              </a:rPr>
              <a:t>.  The statistical tool used for this purpose in this study is R Programming and Microsoft Excel.</a:t>
            </a:r>
            <a:endParaRPr lang="en-US" sz="2800" b="1" dirty="0">
              <a:solidFill>
                <a:schemeClr val="bg1"/>
              </a:solidFill>
            </a:endParaRPr>
          </a:p>
        </p:txBody>
      </p:sp>
    </p:spTree>
    <p:extLst>
      <p:ext uri="{BB962C8B-B14F-4D97-AF65-F5344CB8AC3E}">
        <p14:creationId xmlns:p14="http://schemas.microsoft.com/office/powerpoint/2010/main" val="4121514879"/>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p:cNvSpPr txBox="1"/>
          <p:nvPr/>
        </p:nvSpPr>
        <p:spPr>
          <a:xfrm>
            <a:off x="3179298" y="534572"/>
            <a:ext cx="5528604" cy="646331"/>
          </a:xfrm>
          <a:prstGeom prst="rect">
            <a:avLst/>
          </a:prstGeom>
          <a:noFill/>
        </p:spPr>
        <p:txBody>
          <a:bodyPr wrap="square" rtlCol="0">
            <a:spAutoFit/>
          </a:bodyPr>
          <a:lstStyle/>
          <a:p>
            <a:pPr algn="ctr"/>
            <a:r>
              <a:rPr lang="en-US" sz="3600" b="1" u="sng" dirty="0" smtClean="0">
                <a:solidFill>
                  <a:schemeClr val="bg1"/>
                </a:solidFill>
              </a:rPr>
              <a:t>Introduction</a:t>
            </a:r>
            <a:endParaRPr lang="en-US" b="1" u="sng" dirty="0">
              <a:solidFill>
                <a:schemeClr val="bg1"/>
              </a:solidFill>
            </a:endParaRPr>
          </a:p>
        </p:txBody>
      </p:sp>
      <p:sp>
        <p:nvSpPr>
          <p:cNvPr id="4" name="TextBox 3"/>
          <p:cNvSpPr txBox="1"/>
          <p:nvPr/>
        </p:nvSpPr>
        <p:spPr>
          <a:xfrm>
            <a:off x="886265" y="1547446"/>
            <a:ext cx="10592972" cy="4524315"/>
          </a:xfrm>
          <a:prstGeom prst="rect">
            <a:avLst/>
          </a:prstGeom>
          <a:noFill/>
        </p:spPr>
        <p:txBody>
          <a:bodyPr wrap="square" rtlCol="0">
            <a:spAutoFit/>
          </a:bodyPr>
          <a:lstStyle/>
          <a:p>
            <a:r>
              <a:rPr lang="en-US" sz="3600" b="1" dirty="0">
                <a:solidFill>
                  <a:schemeClr val="bg1"/>
                </a:solidFill>
              </a:rPr>
              <a:t>India's chemical and petrochemical industry is a vital sector of the country's economy and plays a crucial role in its industrial and economic development. It encompasses a wide range of activities, from the production of basic chemicals and intermediates to the manufacturing of various downstream products used in sectors such as agriculture, healthcare, construction, textiles, and automotive.</a:t>
            </a:r>
          </a:p>
        </p:txBody>
      </p:sp>
      <p:sp>
        <p:nvSpPr>
          <p:cNvPr id="5" name="Slide Number Placeholder 4"/>
          <p:cNvSpPr>
            <a:spLocks noGrp="1"/>
          </p:cNvSpPr>
          <p:nvPr>
            <p:ph type="sldNum" sz="quarter" idx="12"/>
          </p:nvPr>
        </p:nvSpPr>
        <p:spPr/>
        <p:txBody>
          <a:bodyPr/>
          <a:lstStyle/>
          <a:p>
            <a:fld id="{CC68732F-3A53-4141-9A7F-3FFB7DE825B7}" type="slidenum">
              <a:rPr lang="en-US" smtClean="0"/>
              <a:t>4</a:t>
            </a:fld>
            <a:endParaRPr lang="en-US"/>
          </a:p>
        </p:txBody>
      </p:sp>
    </p:spTree>
    <p:extLst>
      <p:ext uri="{BB962C8B-B14F-4D97-AF65-F5344CB8AC3E}">
        <p14:creationId xmlns:p14="http://schemas.microsoft.com/office/powerpoint/2010/main" val="2882139593"/>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Slide Number Placeholder 1"/>
          <p:cNvSpPr>
            <a:spLocks noGrp="1"/>
          </p:cNvSpPr>
          <p:nvPr>
            <p:ph type="sldNum" sz="quarter" idx="12"/>
          </p:nvPr>
        </p:nvSpPr>
        <p:spPr/>
        <p:txBody>
          <a:bodyPr/>
          <a:lstStyle/>
          <a:p>
            <a:fld id="{CC68732F-3A53-4141-9A7F-3FFB7DE825B7}" type="slidenum">
              <a:rPr lang="en-US" smtClean="0"/>
              <a:t>5</a:t>
            </a:fld>
            <a:endParaRPr lang="en-US"/>
          </a:p>
        </p:txBody>
      </p:sp>
      <p:sp>
        <p:nvSpPr>
          <p:cNvPr id="5" name="TextBox 4"/>
          <p:cNvSpPr txBox="1"/>
          <p:nvPr/>
        </p:nvSpPr>
        <p:spPr>
          <a:xfrm>
            <a:off x="791570" y="777922"/>
            <a:ext cx="10562230" cy="5632311"/>
          </a:xfrm>
          <a:prstGeom prst="rect">
            <a:avLst/>
          </a:prstGeom>
          <a:noFill/>
        </p:spPr>
        <p:txBody>
          <a:bodyPr wrap="square" rtlCol="0">
            <a:spAutoFit/>
          </a:bodyPr>
          <a:lstStyle/>
          <a:p>
            <a:pPr marL="571500" indent="-571500">
              <a:buFont typeface="Arial" panose="020B0604020202020204" pitchFamily="34" charset="0"/>
              <a:buChar char="•"/>
            </a:pPr>
            <a:r>
              <a:rPr lang="en-US" sz="3600" dirty="0" smtClean="0">
                <a:solidFill>
                  <a:schemeClr val="bg1"/>
                </a:solidFill>
              </a:rPr>
              <a:t>Minister of Chemical and Fertilizers of India</a:t>
            </a:r>
          </a:p>
          <a:p>
            <a:r>
              <a:rPr lang="en-US" sz="3600" dirty="0">
                <a:solidFill>
                  <a:schemeClr val="bg1"/>
                </a:solidFill>
              </a:rPr>
              <a:t>      </a:t>
            </a:r>
            <a:r>
              <a:rPr lang="en-US" sz="3600" dirty="0" smtClean="0">
                <a:solidFill>
                  <a:schemeClr val="bg1"/>
                </a:solidFill>
              </a:rPr>
              <a:t>- Dr</a:t>
            </a:r>
            <a:r>
              <a:rPr lang="en-US" sz="3600" dirty="0">
                <a:solidFill>
                  <a:schemeClr val="bg1"/>
                </a:solidFill>
              </a:rPr>
              <a:t>. Mansukh </a:t>
            </a:r>
            <a:r>
              <a:rPr lang="en-US" sz="3600" dirty="0" err="1">
                <a:solidFill>
                  <a:schemeClr val="bg1"/>
                </a:solidFill>
              </a:rPr>
              <a:t>Mandaviya</a:t>
            </a:r>
            <a:r>
              <a:rPr lang="en-US" sz="3600" dirty="0">
                <a:solidFill>
                  <a:schemeClr val="bg1"/>
                </a:solidFill>
              </a:rPr>
              <a:t> </a:t>
            </a:r>
            <a:endParaRPr lang="en-US" sz="3600" dirty="0" smtClean="0">
              <a:solidFill>
                <a:schemeClr val="bg1"/>
              </a:solidFill>
            </a:endParaRPr>
          </a:p>
          <a:p>
            <a:endParaRPr lang="en-US" sz="3600" dirty="0" smtClean="0">
              <a:solidFill>
                <a:schemeClr val="bg1"/>
              </a:solidFill>
            </a:endParaRPr>
          </a:p>
          <a:p>
            <a:endParaRPr lang="en-US" sz="3600" dirty="0" smtClean="0">
              <a:solidFill>
                <a:schemeClr val="bg1"/>
              </a:solidFill>
            </a:endParaRPr>
          </a:p>
          <a:p>
            <a:endParaRPr lang="en-US" sz="3600" dirty="0">
              <a:solidFill>
                <a:schemeClr val="bg1"/>
              </a:solidFill>
            </a:endParaRPr>
          </a:p>
          <a:p>
            <a:endParaRPr lang="en-US" sz="3600" dirty="0" smtClean="0">
              <a:solidFill>
                <a:schemeClr val="bg1"/>
              </a:solidFill>
            </a:endParaRPr>
          </a:p>
          <a:p>
            <a:endParaRPr lang="en-US" sz="3600" dirty="0" smtClean="0">
              <a:solidFill>
                <a:schemeClr val="bg1"/>
              </a:solidFill>
            </a:endParaRPr>
          </a:p>
          <a:p>
            <a:pPr marL="571500" indent="-571500">
              <a:buFont typeface="Arial" panose="020B0604020202020204" pitchFamily="34" charset="0"/>
              <a:buChar char="•"/>
            </a:pPr>
            <a:r>
              <a:rPr lang="en-US" sz="3600" dirty="0" smtClean="0">
                <a:solidFill>
                  <a:schemeClr val="bg1"/>
                </a:solidFill>
              </a:rPr>
              <a:t>Minister of state for Chemical and Petrochemicals</a:t>
            </a:r>
          </a:p>
          <a:p>
            <a:r>
              <a:rPr lang="en-US" sz="3600" dirty="0">
                <a:solidFill>
                  <a:schemeClr val="bg1"/>
                </a:solidFill>
              </a:rPr>
              <a:t>      </a:t>
            </a:r>
            <a:r>
              <a:rPr lang="en-US" sz="3600" dirty="0" smtClean="0">
                <a:solidFill>
                  <a:schemeClr val="bg1"/>
                </a:solidFill>
              </a:rPr>
              <a:t>- Shri </a:t>
            </a:r>
            <a:r>
              <a:rPr lang="en-US" sz="3600" dirty="0" err="1">
                <a:solidFill>
                  <a:schemeClr val="bg1"/>
                </a:solidFill>
              </a:rPr>
              <a:t>Bhagwanth</a:t>
            </a:r>
            <a:r>
              <a:rPr lang="en-US" sz="3600" dirty="0">
                <a:solidFill>
                  <a:schemeClr val="bg1"/>
                </a:solidFill>
              </a:rPr>
              <a:t> </a:t>
            </a:r>
            <a:r>
              <a:rPr lang="en-US" sz="3600" dirty="0" err="1">
                <a:solidFill>
                  <a:schemeClr val="bg1"/>
                </a:solidFill>
              </a:rPr>
              <a:t>Khuba</a:t>
            </a:r>
            <a:r>
              <a:rPr lang="en-US" sz="3600" dirty="0">
                <a:solidFill>
                  <a:schemeClr val="bg1"/>
                </a:solidFill>
              </a:rPr>
              <a:t> </a:t>
            </a:r>
            <a:endParaRPr lang="en-US" sz="3600" dirty="0" smtClean="0">
              <a:solidFill>
                <a:schemeClr val="bg1"/>
              </a:solidFill>
            </a:endParaRPr>
          </a:p>
          <a:p>
            <a:endParaRPr lang="en-US" sz="3600" dirty="0">
              <a:solidFill>
                <a:schemeClr val="bg1"/>
              </a:solidFill>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73958" y="2033515"/>
            <a:ext cx="4585648" cy="2456597"/>
          </a:xfrm>
          <a:prstGeom prst="rect">
            <a:avLst/>
          </a:prstGeom>
        </p:spPr>
      </p:pic>
    </p:spTree>
    <p:extLst>
      <p:ext uri="{BB962C8B-B14F-4D97-AF65-F5344CB8AC3E}">
        <p14:creationId xmlns:p14="http://schemas.microsoft.com/office/powerpoint/2010/main" val="1197479428"/>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p:cNvSpPr txBox="1"/>
          <p:nvPr/>
        </p:nvSpPr>
        <p:spPr>
          <a:xfrm>
            <a:off x="222738" y="154745"/>
            <a:ext cx="11791071" cy="6555641"/>
          </a:xfrm>
          <a:prstGeom prst="rect">
            <a:avLst/>
          </a:prstGeom>
          <a:noFill/>
        </p:spPr>
        <p:txBody>
          <a:bodyPr wrap="square" rtlCol="0">
            <a:spAutoFit/>
          </a:bodyPr>
          <a:lstStyle/>
          <a:p>
            <a:r>
              <a:rPr lang="en-US" sz="2000" b="1" dirty="0">
                <a:solidFill>
                  <a:schemeClr val="bg1"/>
                </a:solidFill>
              </a:rPr>
              <a:t>Here are some key aspects of India's chemical and petrochemical industry:</a:t>
            </a:r>
          </a:p>
          <a:p>
            <a:r>
              <a:rPr lang="en-US" sz="2000" b="1" dirty="0">
                <a:solidFill>
                  <a:schemeClr val="bg1"/>
                </a:solidFill>
              </a:rPr>
              <a:t>Growth and Importance:</a:t>
            </a:r>
          </a:p>
          <a:p>
            <a:pPr lvl="1"/>
            <a:r>
              <a:rPr lang="en-US" sz="2000" b="1" dirty="0">
                <a:solidFill>
                  <a:schemeClr val="bg1"/>
                </a:solidFill>
              </a:rPr>
              <a:t>The industry has shown significant growth over the years, making India one of the largest producers of chemicals and petrochemicals in Asia.</a:t>
            </a:r>
          </a:p>
          <a:p>
            <a:pPr lvl="1"/>
            <a:r>
              <a:rPr lang="en-US" sz="2000" b="1" dirty="0">
                <a:solidFill>
                  <a:schemeClr val="bg1"/>
                </a:solidFill>
              </a:rPr>
              <a:t>It is a key contributor to the country's GDP, exports, and employment generation.</a:t>
            </a:r>
          </a:p>
          <a:p>
            <a:r>
              <a:rPr lang="en-US" sz="2000" b="1" dirty="0">
                <a:solidFill>
                  <a:schemeClr val="bg1"/>
                </a:solidFill>
              </a:rPr>
              <a:t>Segments:</a:t>
            </a:r>
          </a:p>
          <a:p>
            <a:pPr lvl="1"/>
            <a:r>
              <a:rPr lang="en-US" sz="2000" b="1" dirty="0">
                <a:solidFill>
                  <a:schemeClr val="bg1"/>
                </a:solidFill>
              </a:rPr>
              <a:t>The industry can be broadly categorized into two segments: basic chemicals and petrochemicals. Basic chemicals include chemicals like sulfuric acid, caustic soda, and ammonia, while petrochemicals are derived from hydrocarbons and include products like polyethylene, polypropylene, and PVC.</a:t>
            </a:r>
          </a:p>
          <a:p>
            <a:r>
              <a:rPr lang="en-US" sz="2000" b="1" dirty="0">
                <a:solidFill>
                  <a:schemeClr val="bg1"/>
                </a:solidFill>
              </a:rPr>
              <a:t>Major Players:</a:t>
            </a:r>
          </a:p>
          <a:p>
            <a:pPr lvl="1"/>
            <a:r>
              <a:rPr lang="en-US" sz="2000" b="1" dirty="0">
                <a:solidFill>
                  <a:schemeClr val="bg1"/>
                </a:solidFill>
              </a:rPr>
              <a:t>Major companies in the sector include Reliance Industries, Indian Oil Corporation, Bharat Petroleum, Hindustan Petroleum, and several multinational corporations.</a:t>
            </a:r>
          </a:p>
          <a:p>
            <a:r>
              <a:rPr lang="en-US" sz="2000" b="1" dirty="0">
                <a:solidFill>
                  <a:schemeClr val="bg1"/>
                </a:solidFill>
              </a:rPr>
              <a:t>Petrochemicals:</a:t>
            </a:r>
          </a:p>
          <a:p>
            <a:pPr lvl="1"/>
            <a:r>
              <a:rPr lang="en-US" sz="2000" b="1" dirty="0">
                <a:solidFill>
                  <a:schemeClr val="bg1"/>
                </a:solidFill>
              </a:rPr>
              <a:t>India has a significant presence in the production of petrochemicals, especially in the refining and processing of crude oil and natural gas to produce products like polymers, resins, and synthetic fibers.</a:t>
            </a:r>
          </a:p>
          <a:p>
            <a:r>
              <a:rPr lang="en-US" sz="2000" b="1" dirty="0">
                <a:solidFill>
                  <a:schemeClr val="bg1"/>
                </a:solidFill>
              </a:rPr>
              <a:t>Special Economic Zones (SEZs):</a:t>
            </a:r>
          </a:p>
          <a:p>
            <a:pPr lvl="1"/>
            <a:r>
              <a:rPr lang="en-US" sz="2000" b="1" dirty="0">
                <a:solidFill>
                  <a:schemeClr val="bg1"/>
                </a:solidFill>
              </a:rPr>
              <a:t>The government has established several Special Economic Zones to promote the growth of the chemical and petrochemical industry. These zones offer tax benefits and incentives to attract investments.</a:t>
            </a:r>
          </a:p>
          <a:p>
            <a:r>
              <a:rPr lang="en-US" sz="2000" b="1" dirty="0">
                <a:solidFill>
                  <a:schemeClr val="bg1"/>
                </a:solidFill>
              </a:rPr>
              <a:t>Regulatory Environment:</a:t>
            </a:r>
          </a:p>
          <a:p>
            <a:pPr lvl="1"/>
            <a:r>
              <a:rPr lang="en-US" sz="2000" b="1" dirty="0">
                <a:solidFill>
                  <a:schemeClr val="bg1"/>
                </a:solidFill>
              </a:rPr>
              <a:t>The industry is subject to various environmental regulations and safety standards to ensure the responsible production and handling of chemicals</a:t>
            </a:r>
            <a:r>
              <a:rPr lang="en-US" sz="2000" b="1" dirty="0" smtClean="0">
                <a:solidFill>
                  <a:schemeClr val="bg1"/>
                </a:solidFill>
              </a:rPr>
              <a:t>.</a:t>
            </a:r>
          </a:p>
        </p:txBody>
      </p:sp>
      <p:sp>
        <p:nvSpPr>
          <p:cNvPr id="4" name="Slide Number Placeholder 3"/>
          <p:cNvSpPr>
            <a:spLocks noGrp="1"/>
          </p:cNvSpPr>
          <p:nvPr>
            <p:ph type="sldNum" sz="quarter" idx="12"/>
          </p:nvPr>
        </p:nvSpPr>
        <p:spPr/>
        <p:txBody>
          <a:bodyPr/>
          <a:lstStyle/>
          <a:p>
            <a:fld id="{CC68732F-3A53-4141-9A7F-3FFB7DE825B7}" type="slidenum">
              <a:rPr lang="en-US" smtClean="0"/>
              <a:t>6</a:t>
            </a:fld>
            <a:endParaRPr lang="en-US"/>
          </a:p>
        </p:txBody>
      </p:sp>
    </p:spTree>
    <p:extLst>
      <p:ext uri="{BB962C8B-B14F-4D97-AF65-F5344CB8AC3E}">
        <p14:creationId xmlns:p14="http://schemas.microsoft.com/office/powerpoint/2010/main" val="405161426"/>
      </p:ext>
    </p:extLst>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Rectangle 2"/>
          <p:cNvSpPr/>
          <p:nvPr/>
        </p:nvSpPr>
        <p:spPr>
          <a:xfrm>
            <a:off x="166467" y="196809"/>
            <a:ext cx="11859065" cy="6555641"/>
          </a:xfrm>
          <a:prstGeom prst="rect">
            <a:avLst/>
          </a:prstGeom>
        </p:spPr>
        <p:txBody>
          <a:bodyPr wrap="square">
            <a:spAutoFit/>
          </a:bodyPr>
          <a:lstStyle/>
          <a:p>
            <a:r>
              <a:rPr lang="en-US" sz="2000" b="1" dirty="0">
                <a:solidFill>
                  <a:schemeClr val="bg1"/>
                </a:solidFill>
              </a:rPr>
              <a:t>Exports:</a:t>
            </a:r>
          </a:p>
          <a:p>
            <a:pPr lvl="1"/>
            <a:r>
              <a:rPr lang="en-US" sz="2000" b="1" dirty="0">
                <a:solidFill>
                  <a:schemeClr val="bg1"/>
                </a:solidFill>
              </a:rPr>
              <a:t>India is a major exporter of chemicals and petrochemical products to countries across the world. It exports a wide range of products, including dyes, agrochemicals, pharmaceuticals, and specialty </a:t>
            </a:r>
            <a:r>
              <a:rPr lang="en-US" sz="2000" b="1" dirty="0" smtClean="0">
                <a:solidFill>
                  <a:schemeClr val="bg1"/>
                </a:solidFill>
              </a:rPr>
              <a:t>chemicals*.</a:t>
            </a:r>
            <a:endParaRPr lang="en-US" sz="2000" b="1" dirty="0">
              <a:solidFill>
                <a:schemeClr val="bg1"/>
              </a:solidFill>
            </a:endParaRPr>
          </a:p>
          <a:p>
            <a:r>
              <a:rPr lang="en-US" sz="2000" b="1" dirty="0">
                <a:solidFill>
                  <a:schemeClr val="bg1"/>
                </a:solidFill>
              </a:rPr>
              <a:t>Challenges:</a:t>
            </a:r>
          </a:p>
          <a:p>
            <a:pPr lvl="1"/>
            <a:r>
              <a:rPr lang="en-US" sz="2000" b="1" dirty="0">
                <a:solidFill>
                  <a:schemeClr val="bg1"/>
                </a:solidFill>
              </a:rPr>
              <a:t>The industry faces challenges related to environmental sustainability, safety, and compliance with international standards.</a:t>
            </a:r>
          </a:p>
          <a:p>
            <a:pPr lvl="1"/>
            <a:r>
              <a:rPr lang="en-US" sz="2000" b="1" dirty="0">
                <a:solidFill>
                  <a:schemeClr val="bg1"/>
                </a:solidFill>
              </a:rPr>
              <a:t>Dependency on imports for raw materials, such as crude oil and natural gas, can affect the sector's growth.</a:t>
            </a:r>
          </a:p>
          <a:p>
            <a:r>
              <a:rPr lang="en-US" sz="2000" b="1" dirty="0">
                <a:solidFill>
                  <a:schemeClr val="bg1"/>
                </a:solidFill>
              </a:rPr>
              <a:t>Research and Development:</a:t>
            </a:r>
          </a:p>
          <a:p>
            <a:pPr lvl="1"/>
            <a:r>
              <a:rPr lang="en-US" sz="2000" b="1" dirty="0">
                <a:solidFill>
                  <a:schemeClr val="bg1"/>
                </a:solidFill>
              </a:rPr>
              <a:t>Research and development in the chemical and petrochemical sector are essential for product innovation and competitiveness. Many companies invest in R&amp;D to develop new products and processes.</a:t>
            </a:r>
          </a:p>
          <a:p>
            <a:r>
              <a:rPr lang="en-US" sz="2000" b="1" dirty="0">
                <a:solidFill>
                  <a:schemeClr val="bg1"/>
                </a:solidFill>
              </a:rPr>
              <a:t>Future Prospects:</a:t>
            </a:r>
          </a:p>
          <a:p>
            <a:pPr lvl="1"/>
            <a:r>
              <a:rPr lang="en-US" sz="2000" b="1" dirty="0">
                <a:solidFill>
                  <a:schemeClr val="bg1"/>
                </a:solidFill>
              </a:rPr>
              <a:t>The industry is expected to continue growing due to rising domestic consumption, increased demand for specialty chemicals, and a focus on diversification and value addition.</a:t>
            </a:r>
          </a:p>
          <a:p>
            <a:endParaRPr lang="en-US" sz="2000" b="1" dirty="0" smtClean="0">
              <a:solidFill>
                <a:schemeClr val="bg1"/>
              </a:solidFill>
            </a:endParaRPr>
          </a:p>
          <a:p>
            <a:endParaRPr lang="en-US" sz="2000" b="1" dirty="0">
              <a:solidFill>
                <a:schemeClr val="bg1"/>
              </a:solidFill>
            </a:endParaRPr>
          </a:p>
          <a:p>
            <a:endParaRPr lang="en-US" sz="2000" b="1" dirty="0" smtClean="0">
              <a:solidFill>
                <a:schemeClr val="bg1"/>
              </a:solidFill>
            </a:endParaRPr>
          </a:p>
          <a:p>
            <a:endParaRPr lang="en-US" sz="2000" b="1" dirty="0">
              <a:solidFill>
                <a:schemeClr val="bg1"/>
              </a:solidFill>
            </a:endParaRPr>
          </a:p>
          <a:p>
            <a:endParaRPr lang="en-US" sz="2000" b="1" dirty="0">
              <a:solidFill>
                <a:schemeClr val="bg1"/>
              </a:solidFill>
            </a:endParaRPr>
          </a:p>
          <a:p>
            <a:r>
              <a:rPr lang="en-US" sz="2000" dirty="0">
                <a:solidFill>
                  <a:schemeClr val="bg1"/>
                </a:solidFill>
              </a:rPr>
              <a:t>*Specialty chemicals are either single-chemical entities or mixtures of various chemical ingredients that are designed for specific applications and sometimes for specific customers.</a:t>
            </a:r>
          </a:p>
        </p:txBody>
      </p:sp>
      <p:sp>
        <p:nvSpPr>
          <p:cNvPr id="4" name="Slide Number Placeholder 3"/>
          <p:cNvSpPr>
            <a:spLocks noGrp="1"/>
          </p:cNvSpPr>
          <p:nvPr>
            <p:ph type="sldNum" sz="quarter" idx="12"/>
          </p:nvPr>
        </p:nvSpPr>
        <p:spPr/>
        <p:txBody>
          <a:bodyPr/>
          <a:lstStyle/>
          <a:p>
            <a:fld id="{CC68732F-3A53-4141-9A7F-3FFB7DE825B7}" type="slidenum">
              <a:rPr lang="en-US" smtClean="0"/>
              <a:t>7</a:t>
            </a:fld>
            <a:endParaRPr lang="en-US"/>
          </a:p>
        </p:txBody>
      </p:sp>
    </p:spTree>
    <p:extLst>
      <p:ext uri="{BB962C8B-B14F-4D97-AF65-F5344CB8AC3E}">
        <p14:creationId xmlns:p14="http://schemas.microsoft.com/office/powerpoint/2010/main" val="639377676"/>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8</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1569492" y="395785"/>
            <a:ext cx="9034817" cy="646331"/>
          </a:xfrm>
          <a:prstGeom prst="rect">
            <a:avLst/>
          </a:prstGeom>
          <a:noFill/>
        </p:spPr>
        <p:txBody>
          <a:bodyPr wrap="square" rtlCol="0">
            <a:spAutoFit/>
          </a:bodyPr>
          <a:lstStyle/>
          <a:p>
            <a:pPr algn="ctr"/>
            <a:r>
              <a:rPr lang="en-US" sz="3600" b="1" u="sng" dirty="0" smtClean="0">
                <a:solidFill>
                  <a:schemeClr val="bg1"/>
                </a:solidFill>
              </a:rPr>
              <a:t>Literature Review</a:t>
            </a:r>
            <a:endParaRPr lang="en-US" sz="3600" b="1" u="sng" dirty="0">
              <a:solidFill>
                <a:schemeClr val="bg1"/>
              </a:solidFill>
            </a:endParaRPr>
          </a:p>
        </p:txBody>
      </p:sp>
      <p:sp>
        <p:nvSpPr>
          <p:cNvPr id="5" name="TextBox 4"/>
          <p:cNvSpPr txBox="1"/>
          <p:nvPr/>
        </p:nvSpPr>
        <p:spPr>
          <a:xfrm>
            <a:off x="302525" y="1154926"/>
            <a:ext cx="11586950" cy="5201424"/>
          </a:xfrm>
          <a:prstGeom prst="rect">
            <a:avLst/>
          </a:prstGeom>
          <a:noFill/>
        </p:spPr>
        <p:txBody>
          <a:bodyPr wrap="square" rtlCol="0">
            <a:spAutoFit/>
          </a:bodyPr>
          <a:lstStyle/>
          <a:p>
            <a:r>
              <a:rPr lang="en-US" sz="2400" b="1" dirty="0">
                <a:solidFill>
                  <a:schemeClr val="bg1"/>
                </a:solidFill>
              </a:rPr>
              <a:t>Historical Overview –</a:t>
            </a:r>
          </a:p>
          <a:p>
            <a:r>
              <a:rPr lang="en-US" sz="2400" b="1" dirty="0">
                <a:solidFill>
                  <a:schemeClr val="bg1"/>
                </a:solidFill>
              </a:rPr>
              <a:t>           The chemical and petrochemical industry in India has evolved over the years, with a focus on traditional chemicals and products. Post-independence, the industry saw early growth, with the first petrochemical complex established in </a:t>
            </a:r>
            <a:r>
              <a:rPr lang="en-US" sz="2400" b="1" dirty="0" err="1">
                <a:solidFill>
                  <a:schemeClr val="bg1"/>
                </a:solidFill>
              </a:rPr>
              <a:t>Trombay</a:t>
            </a:r>
            <a:r>
              <a:rPr lang="en-US" sz="2400" b="1" dirty="0">
                <a:solidFill>
                  <a:schemeClr val="bg1"/>
                </a:solidFill>
              </a:rPr>
              <a:t> (an eastern suburb of Mumbai ) in 1951. The Green Revolution in the 1960s and 1970s led to the growth of fertilizer plants. In the 1990s, India initiated economic reforms, promoting private sector participation and foreign investments. The petrochemical boom in the 1990s and early 2000s saw India's industry diversify into plastics, synthetic fibers, specialty chemicals, and pharmaceuticals. India also developed expertise in bulk and specialty chemicals. As of January 2022, the industry is a significant contributor to India's GDP and export earnings, with a well-established domestic market and growing presence in international markets. Future growth is expected due to increasing demand for chemicals, growth in the pharmaceutical and agrochemical sectors, and technological advancements.</a:t>
            </a:r>
          </a:p>
          <a:p>
            <a:endParaRPr lang="en-US" dirty="0"/>
          </a:p>
        </p:txBody>
      </p:sp>
    </p:spTree>
    <p:extLst>
      <p:ext uri="{BB962C8B-B14F-4D97-AF65-F5344CB8AC3E}">
        <p14:creationId xmlns:p14="http://schemas.microsoft.com/office/powerpoint/2010/main" val="1403697422"/>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9</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163772" y="117693"/>
            <a:ext cx="11818961" cy="6370975"/>
          </a:xfrm>
          <a:prstGeom prst="rect">
            <a:avLst/>
          </a:prstGeom>
          <a:noFill/>
        </p:spPr>
        <p:txBody>
          <a:bodyPr wrap="square" rtlCol="0">
            <a:spAutoFit/>
          </a:bodyPr>
          <a:lstStyle/>
          <a:p>
            <a:r>
              <a:rPr lang="en-US" sz="2400" b="1" dirty="0">
                <a:solidFill>
                  <a:schemeClr val="bg1"/>
                </a:solidFill>
              </a:rPr>
              <a:t>Economic Significance </a:t>
            </a:r>
            <a:r>
              <a:rPr lang="en-US" sz="2400" dirty="0">
                <a:solidFill>
                  <a:schemeClr val="bg1"/>
                </a:solidFill>
              </a:rPr>
              <a:t>–</a:t>
            </a:r>
          </a:p>
          <a:p>
            <a:r>
              <a:rPr lang="en-US" sz="2400" b="1" dirty="0">
                <a:solidFill>
                  <a:schemeClr val="bg1"/>
                </a:solidFill>
              </a:rPr>
              <a:t>            The chemical and petrochemical industry in India is crucial for the country's GDP, employment, and industrial development. It contributes to the country's GDP through exports of various products, contributes to infrastructure development, supports other industries, fosters innovation, and contributes to government revenue. The industry also supports rural and agro-based economies, helps balance trade deficits, and promotes sustainability and green initiatives. As the sector expands and diversifies, its economic significance continues to grow</a:t>
            </a:r>
            <a:r>
              <a:rPr lang="en-US" sz="2400" b="1" dirty="0" smtClean="0">
                <a:solidFill>
                  <a:schemeClr val="bg1"/>
                </a:solidFill>
              </a:rPr>
              <a:t>.</a:t>
            </a:r>
          </a:p>
          <a:p>
            <a:r>
              <a:rPr lang="en-US" sz="2400" b="1" dirty="0">
                <a:solidFill>
                  <a:schemeClr val="bg1"/>
                </a:solidFill>
              </a:rPr>
              <a:t>Government Policies and Regulations </a:t>
            </a:r>
            <a:r>
              <a:rPr lang="en-US" sz="2400" dirty="0">
                <a:solidFill>
                  <a:schemeClr val="bg1"/>
                </a:solidFill>
              </a:rPr>
              <a:t>–</a:t>
            </a:r>
          </a:p>
          <a:p>
            <a:r>
              <a:rPr lang="en-US" sz="2400" b="1" dirty="0">
                <a:solidFill>
                  <a:schemeClr val="bg1"/>
                </a:solidFill>
              </a:rPr>
              <a:t>             The Indian chemical and petrochemical industry is governed by various government policies and regulations to ensure safety, environmental protection, and growth. These include industrial licensing and investment policies, chemical management and safety regulations, hazardous substances management, Chemical Weapons Convention compliance, and chemical safety and process safety management. Economic policies and trade regulations affect the import and export of chemicals and petrochemical products. Environmental regulations, quality control, pharmaceutical regulations, fertilizer control orders, and petroleum and natural gas regulations also play a role</a:t>
            </a:r>
            <a:r>
              <a:rPr lang="en-US" sz="2400" b="1" dirty="0" smtClean="0">
                <a:solidFill>
                  <a:schemeClr val="bg1"/>
                </a:solidFill>
              </a:rPr>
              <a:t>.</a:t>
            </a:r>
            <a:endParaRPr lang="en-US" sz="2400" b="1" dirty="0">
              <a:solidFill>
                <a:schemeClr val="bg1"/>
              </a:solidFill>
            </a:endParaRPr>
          </a:p>
        </p:txBody>
      </p:sp>
    </p:spTree>
    <p:extLst>
      <p:ext uri="{BB962C8B-B14F-4D97-AF65-F5344CB8AC3E}">
        <p14:creationId xmlns:p14="http://schemas.microsoft.com/office/powerpoint/2010/main" val="1527965743"/>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10</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477672" y="762129"/>
            <a:ext cx="10876128" cy="4832092"/>
          </a:xfrm>
          <a:prstGeom prst="rect">
            <a:avLst/>
          </a:prstGeom>
          <a:noFill/>
        </p:spPr>
        <p:txBody>
          <a:bodyPr wrap="square" rtlCol="0">
            <a:spAutoFit/>
          </a:bodyPr>
          <a:lstStyle/>
          <a:p>
            <a:pPr marL="571500" indent="-571500">
              <a:buFont typeface="Arial" panose="020B0604020202020204" pitchFamily="34" charset="0"/>
              <a:buChar char="•"/>
            </a:pPr>
            <a:r>
              <a:rPr lang="en-US" sz="2800" dirty="0">
                <a:solidFill>
                  <a:schemeClr val="bg1"/>
                </a:solidFill>
              </a:rPr>
              <a:t>An overview of production and consumption of major chemical fertilizers in </a:t>
            </a:r>
            <a:r>
              <a:rPr lang="en-US" sz="2800" dirty="0" smtClean="0">
                <a:solidFill>
                  <a:schemeClr val="bg1"/>
                </a:solidFill>
              </a:rPr>
              <a:t>India </a:t>
            </a:r>
          </a:p>
          <a:p>
            <a:r>
              <a:rPr lang="en-US" sz="2800" dirty="0">
                <a:solidFill>
                  <a:schemeClr val="bg1"/>
                </a:solidFill>
              </a:rPr>
              <a:t> </a:t>
            </a:r>
            <a:r>
              <a:rPr lang="en-US" sz="2800" dirty="0" smtClean="0">
                <a:solidFill>
                  <a:schemeClr val="bg1"/>
                </a:solidFill>
              </a:rPr>
              <a:t>                                                                                       - By </a:t>
            </a:r>
            <a:r>
              <a:rPr lang="en-US" sz="2800" dirty="0">
                <a:solidFill>
                  <a:schemeClr val="bg1"/>
                </a:solidFill>
              </a:rPr>
              <a:t>Praveen </a:t>
            </a:r>
            <a:r>
              <a:rPr lang="en-US" sz="2800" dirty="0" smtClean="0">
                <a:solidFill>
                  <a:schemeClr val="bg1"/>
                </a:solidFill>
              </a:rPr>
              <a:t>Desai et al</a:t>
            </a:r>
            <a:r>
              <a:rPr lang="en-US" sz="2800" dirty="0">
                <a:solidFill>
                  <a:schemeClr val="bg1"/>
                </a:solidFill>
              </a:rPr>
              <a:t>.</a:t>
            </a:r>
            <a:r>
              <a:rPr lang="en-US" sz="2800" dirty="0" smtClean="0">
                <a:solidFill>
                  <a:schemeClr val="bg1"/>
                </a:solidFill>
              </a:rPr>
              <a:t> </a:t>
            </a:r>
          </a:p>
          <a:p>
            <a:r>
              <a:rPr lang="en-US" sz="2800" dirty="0" smtClean="0">
                <a:solidFill>
                  <a:schemeClr val="bg1"/>
                </a:solidFill>
              </a:rPr>
              <a:t>who concluded that important measures are </a:t>
            </a:r>
            <a:r>
              <a:rPr lang="en-US" sz="2800" dirty="0">
                <a:solidFill>
                  <a:schemeClr val="bg1"/>
                </a:solidFill>
              </a:rPr>
              <a:t>required to </a:t>
            </a:r>
            <a:r>
              <a:rPr lang="en-US" sz="2800" dirty="0" smtClean="0">
                <a:solidFill>
                  <a:schemeClr val="bg1"/>
                </a:solidFill>
              </a:rPr>
              <a:t>increase </a:t>
            </a:r>
            <a:r>
              <a:rPr lang="en-US" sz="2800" dirty="0">
                <a:solidFill>
                  <a:schemeClr val="bg1"/>
                </a:solidFill>
              </a:rPr>
              <a:t>consumption of fertilizers include development of </a:t>
            </a:r>
            <a:r>
              <a:rPr lang="en-US" sz="2800" dirty="0" smtClean="0">
                <a:solidFill>
                  <a:schemeClr val="bg1"/>
                </a:solidFill>
              </a:rPr>
              <a:t>irrigation </a:t>
            </a:r>
            <a:r>
              <a:rPr lang="en-US" sz="2800" dirty="0">
                <a:solidFill>
                  <a:schemeClr val="bg1"/>
                </a:solidFill>
              </a:rPr>
              <a:t>facilities with better water use </a:t>
            </a:r>
            <a:r>
              <a:rPr lang="en-US" sz="2800" dirty="0" smtClean="0">
                <a:solidFill>
                  <a:schemeClr val="bg1"/>
                </a:solidFill>
              </a:rPr>
              <a:t>efficiency.</a:t>
            </a:r>
          </a:p>
          <a:p>
            <a:endParaRPr lang="en-US" sz="2800" dirty="0" smtClean="0">
              <a:solidFill>
                <a:schemeClr val="bg1"/>
              </a:solidFill>
            </a:endParaRPr>
          </a:p>
          <a:p>
            <a:pPr marL="571500" indent="-571500">
              <a:buFont typeface="Arial" panose="020B0604020202020204" pitchFamily="34" charset="0"/>
              <a:buChar char="•"/>
            </a:pPr>
            <a:r>
              <a:rPr lang="en-US" sz="2800" dirty="0" smtClean="0">
                <a:solidFill>
                  <a:schemeClr val="bg1"/>
                </a:solidFill>
              </a:rPr>
              <a:t>Productivity in Indian Chemical Sector- An Intra Sectoral Analysis</a:t>
            </a:r>
          </a:p>
          <a:p>
            <a:r>
              <a:rPr lang="en-US" sz="2800" dirty="0">
                <a:solidFill>
                  <a:schemeClr val="bg1"/>
                </a:solidFill>
              </a:rPr>
              <a:t> </a:t>
            </a:r>
            <a:r>
              <a:rPr lang="en-US" sz="2800" dirty="0" smtClean="0">
                <a:solidFill>
                  <a:schemeClr val="bg1"/>
                </a:solidFill>
              </a:rPr>
              <a:t>                                                                                       - By T </a:t>
            </a:r>
            <a:r>
              <a:rPr lang="en-US" sz="2800" dirty="0" err="1" smtClean="0">
                <a:solidFill>
                  <a:schemeClr val="bg1"/>
                </a:solidFill>
              </a:rPr>
              <a:t>Sampath</a:t>
            </a:r>
            <a:r>
              <a:rPr lang="en-US" sz="2800" dirty="0" smtClean="0">
                <a:solidFill>
                  <a:schemeClr val="bg1"/>
                </a:solidFill>
              </a:rPr>
              <a:t> Kumar</a:t>
            </a:r>
          </a:p>
          <a:p>
            <a:endParaRPr lang="en-US" sz="2800" dirty="0" smtClean="0">
              <a:solidFill>
                <a:schemeClr val="bg1"/>
              </a:solidFill>
            </a:endParaRPr>
          </a:p>
          <a:p>
            <a:endParaRPr lang="en-US" sz="2800" dirty="0">
              <a:solidFill>
                <a:schemeClr val="bg1"/>
              </a:solidFill>
            </a:endParaRPr>
          </a:p>
        </p:txBody>
      </p:sp>
    </p:spTree>
    <p:extLst>
      <p:ext uri="{BB962C8B-B14F-4D97-AF65-F5344CB8AC3E}">
        <p14:creationId xmlns:p14="http://schemas.microsoft.com/office/powerpoint/2010/main" val="3373610541"/>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lide Number Placeholder 2"/>
          <p:cNvSpPr>
            <a:spLocks noGrp="1"/>
          </p:cNvSpPr>
          <p:nvPr>
            <p:ph type="sldNum" sz="quarter" idx="12"/>
          </p:nvPr>
        </p:nvSpPr>
        <p:spPr/>
        <p:txBody>
          <a:bodyPr/>
          <a:lstStyle/>
          <a:p>
            <a:fld id="{CC68732F-3A53-4141-9A7F-3FFB7DE825B7}" type="slidenum">
              <a:rPr lang="en-US" smtClean="0"/>
              <a:t>11</a:t>
            </a:fld>
            <a:endParaRPr lang="en-US"/>
          </a:p>
        </p:txBody>
      </p:sp>
      <p:sp>
        <p:nvSpPr>
          <p:cNvPr id="4" name="TextBox 3"/>
          <p:cNvSpPr txBox="1"/>
          <p:nvPr/>
        </p:nvSpPr>
        <p:spPr>
          <a:xfrm>
            <a:off x="3573194" y="267286"/>
            <a:ext cx="4909624" cy="646331"/>
          </a:xfrm>
          <a:prstGeom prst="rect">
            <a:avLst/>
          </a:prstGeom>
          <a:noFill/>
        </p:spPr>
        <p:txBody>
          <a:bodyPr wrap="square" rtlCol="0">
            <a:spAutoFit/>
          </a:bodyPr>
          <a:lstStyle/>
          <a:p>
            <a:pPr algn="ctr"/>
            <a:r>
              <a:rPr lang="en-US" sz="3600" b="1" u="sng" dirty="0" smtClean="0">
                <a:solidFill>
                  <a:schemeClr val="bg1"/>
                </a:solidFill>
              </a:rPr>
              <a:t>METHODOLOGY</a:t>
            </a:r>
            <a:endParaRPr lang="en-US" sz="3600" b="1" u="sng" dirty="0">
              <a:solidFill>
                <a:schemeClr val="bg1"/>
              </a:solidFill>
            </a:endParaRPr>
          </a:p>
        </p:txBody>
      </p:sp>
      <p:sp>
        <p:nvSpPr>
          <p:cNvPr id="5" name="TextBox 4"/>
          <p:cNvSpPr txBox="1"/>
          <p:nvPr/>
        </p:nvSpPr>
        <p:spPr>
          <a:xfrm>
            <a:off x="365760" y="1092736"/>
            <a:ext cx="11324492" cy="5586145"/>
          </a:xfrm>
          <a:prstGeom prst="rect">
            <a:avLst/>
          </a:prstGeom>
          <a:noFill/>
        </p:spPr>
        <p:txBody>
          <a:bodyPr wrap="square" rtlCol="0">
            <a:spAutoFit/>
          </a:bodyPr>
          <a:lstStyle/>
          <a:p>
            <a:pPr>
              <a:lnSpc>
                <a:spcPct val="150000"/>
              </a:lnSpc>
            </a:pPr>
            <a:r>
              <a:rPr lang="en-US" sz="2800" b="1" u="sng" dirty="0" smtClean="0">
                <a:solidFill>
                  <a:schemeClr val="bg1"/>
                </a:solidFill>
              </a:rPr>
              <a:t>Time Series Analysis </a:t>
            </a:r>
            <a:r>
              <a:rPr lang="en-US" sz="2400" b="1" dirty="0" smtClean="0">
                <a:solidFill>
                  <a:schemeClr val="bg1"/>
                </a:solidFill>
              </a:rPr>
              <a:t>–</a:t>
            </a:r>
          </a:p>
          <a:p>
            <a:pPr>
              <a:lnSpc>
                <a:spcPct val="150000"/>
              </a:lnSpc>
            </a:pPr>
            <a:r>
              <a:rPr lang="en-US" sz="2400" b="1" u="sng" dirty="0" smtClean="0">
                <a:solidFill>
                  <a:schemeClr val="bg1"/>
                </a:solidFill>
              </a:rPr>
              <a:t>Introduction- </a:t>
            </a:r>
            <a:r>
              <a:rPr lang="en-US" sz="2400" dirty="0">
                <a:solidFill>
                  <a:schemeClr val="bg1"/>
                </a:solidFill>
              </a:rPr>
              <a:t> </a:t>
            </a:r>
            <a:r>
              <a:rPr lang="en-US" sz="2400" dirty="0" smtClean="0">
                <a:solidFill>
                  <a:schemeClr val="bg1"/>
                </a:solidFill>
              </a:rPr>
              <a:t>A set of ordered observations of a quantitative variable taken at successive points in time is known as </a:t>
            </a:r>
            <a:r>
              <a:rPr lang="en-US" sz="2400" i="1" dirty="0" smtClean="0">
                <a:solidFill>
                  <a:schemeClr val="bg1"/>
                </a:solidFill>
              </a:rPr>
              <a:t>‘Time Series’. </a:t>
            </a:r>
            <a:r>
              <a:rPr lang="en-US" sz="2400" dirty="0" smtClean="0">
                <a:solidFill>
                  <a:schemeClr val="bg1"/>
                </a:solidFill>
              </a:rPr>
              <a:t>A time series depicts relationship between two variables one of them being time, e.g., the population (</a:t>
            </a:r>
            <a:r>
              <a:rPr lang="en-US" sz="2400" b="1" dirty="0" err="1" smtClean="0">
                <a:solidFill>
                  <a:schemeClr val="bg1"/>
                </a:solidFill>
              </a:rPr>
              <a:t>y</a:t>
            </a:r>
            <a:r>
              <a:rPr lang="en-US" sz="2400" b="1" baseline="-25000" dirty="0" err="1" smtClean="0">
                <a:solidFill>
                  <a:schemeClr val="bg1"/>
                </a:solidFill>
              </a:rPr>
              <a:t>t</a:t>
            </a:r>
            <a:r>
              <a:rPr lang="en-US" sz="2400" dirty="0" smtClean="0">
                <a:solidFill>
                  <a:schemeClr val="bg1"/>
                </a:solidFill>
              </a:rPr>
              <a:t>) of a country in different years (</a:t>
            </a:r>
            <a:r>
              <a:rPr lang="en-US" sz="2400" b="1" dirty="0" smtClean="0">
                <a:solidFill>
                  <a:schemeClr val="bg1"/>
                </a:solidFill>
              </a:rPr>
              <a:t>t</a:t>
            </a:r>
            <a:r>
              <a:rPr lang="en-US" sz="2400" dirty="0" smtClean="0">
                <a:solidFill>
                  <a:schemeClr val="bg1"/>
                </a:solidFill>
              </a:rPr>
              <a:t>); temperature </a:t>
            </a:r>
            <a:r>
              <a:rPr lang="en-US" sz="2400" dirty="0">
                <a:solidFill>
                  <a:schemeClr val="bg1"/>
                </a:solidFill>
              </a:rPr>
              <a:t>(</a:t>
            </a:r>
            <a:r>
              <a:rPr lang="en-US" sz="2400" b="1" dirty="0" err="1">
                <a:solidFill>
                  <a:schemeClr val="bg1"/>
                </a:solidFill>
              </a:rPr>
              <a:t>y</a:t>
            </a:r>
            <a:r>
              <a:rPr lang="en-US" sz="2400" b="1" baseline="-25000" dirty="0" err="1">
                <a:solidFill>
                  <a:schemeClr val="bg1"/>
                </a:solidFill>
              </a:rPr>
              <a:t>t</a:t>
            </a:r>
            <a:r>
              <a:rPr lang="en-US" sz="2400" dirty="0">
                <a:solidFill>
                  <a:schemeClr val="bg1"/>
                </a:solidFill>
              </a:rPr>
              <a:t>) </a:t>
            </a:r>
            <a:r>
              <a:rPr lang="en-US" sz="2400" dirty="0" smtClean="0">
                <a:solidFill>
                  <a:schemeClr val="bg1"/>
                </a:solidFill>
              </a:rPr>
              <a:t>of a place on different days </a:t>
            </a:r>
            <a:r>
              <a:rPr lang="en-US" sz="2400" b="1" dirty="0" smtClean="0">
                <a:solidFill>
                  <a:schemeClr val="bg1"/>
                </a:solidFill>
              </a:rPr>
              <a:t>(t)</a:t>
            </a:r>
            <a:r>
              <a:rPr lang="en-US" sz="2400" dirty="0" smtClean="0">
                <a:solidFill>
                  <a:schemeClr val="bg1"/>
                </a:solidFill>
              </a:rPr>
              <a:t> etc.</a:t>
            </a:r>
          </a:p>
          <a:p>
            <a:pPr>
              <a:lnSpc>
                <a:spcPct val="150000"/>
              </a:lnSpc>
            </a:pPr>
            <a:endParaRPr lang="en-US" sz="2400" u="sng" dirty="0" smtClean="0">
              <a:solidFill>
                <a:schemeClr val="bg1"/>
              </a:solidFill>
            </a:endParaRPr>
          </a:p>
          <a:p>
            <a:pPr>
              <a:lnSpc>
                <a:spcPct val="150000"/>
              </a:lnSpc>
            </a:pPr>
            <a:r>
              <a:rPr lang="en-US" sz="2400" dirty="0" smtClean="0">
                <a:solidFill>
                  <a:schemeClr val="bg1"/>
                </a:solidFill>
              </a:rPr>
              <a:t>According to </a:t>
            </a:r>
            <a:r>
              <a:rPr lang="en-US" sz="2400" dirty="0" err="1" smtClean="0">
                <a:solidFill>
                  <a:schemeClr val="bg1"/>
                </a:solidFill>
              </a:rPr>
              <a:t>Ya-lun</a:t>
            </a:r>
            <a:r>
              <a:rPr lang="en-US" sz="2400" dirty="0" smtClean="0">
                <a:solidFill>
                  <a:schemeClr val="bg1"/>
                </a:solidFill>
              </a:rPr>
              <a:t> Chou,</a:t>
            </a:r>
          </a:p>
          <a:p>
            <a:pPr algn="ctr">
              <a:lnSpc>
                <a:spcPct val="150000"/>
              </a:lnSpc>
            </a:pPr>
            <a:r>
              <a:rPr lang="en-US" sz="2400" dirty="0" smtClean="0">
                <a:solidFill>
                  <a:schemeClr val="bg1"/>
                </a:solidFill>
              </a:rPr>
              <a:t>“</a:t>
            </a:r>
            <a:r>
              <a:rPr lang="en-US" sz="2400" i="1" dirty="0" smtClean="0">
                <a:solidFill>
                  <a:schemeClr val="bg1"/>
                </a:solidFill>
              </a:rPr>
              <a:t>A time series may be defined as a collection of readings belonging to different time periods, of some economic variable or composite of variables.” </a:t>
            </a:r>
          </a:p>
          <a:p>
            <a:pPr>
              <a:lnSpc>
                <a:spcPct val="150000"/>
              </a:lnSpc>
            </a:pPr>
            <a:endParaRPr lang="en-US" dirty="0">
              <a:solidFill>
                <a:schemeClr val="bg1"/>
              </a:solidFill>
            </a:endParaRPr>
          </a:p>
        </p:txBody>
      </p:sp>
      <p:sp>
        <p:nvSpPr>
          <p:cNvPr id="6" name="Rectangle 5"/>
          <p:cNvSpPr/>
          <p:nvPr/>
        </p:nvSpPr>
        <p:spPr>
          <a:xfrm>
            <a:off x="365760" y="4572000"/>
            <a:ext cx="10988040" cy="164782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2866426"/>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12</a:t>
            </a:fld>
            <a:endParaRPr lang="en-US"/>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545910" y="477672"/>
            <a:ext cx="10807890" cy="5724644"/>
          </a:xfrm>
          <a:prstGeom prst="rect">
            <a:avLst/>
          </a:prstGeom>
          <a:noFill/>
        </p:spPr>
        <p:txBody>
          <a:bodyPr wrap="square" rtlCol="0">
            <a:spAutoFit/>
          </a:bodyPr>
          <a:lstStyle/>
          <a:p>
            <a:pPr>
              <a:lnSpc>
                <a:spcPct val="150000"/>
              </a:lnSpc>
            </a:pPr>
            <a:r>
              <a:rPr lang="en-US" sz="2400" dirty="0" smtClean="0">
                <a:solidFill>
                  <a:schemeClr val="bg1"/>
                </a:solidFill>
              </a:rPr>
              <a:t>Mathematically, a time series is defined by the functional relationship</a:t>
            </a:r>
          </a:p>
          <a:p>
            <a:pPr algn="ctr">
              <a:lnSpc>
                <a:spcPct val="150000"/>
              </a:lnSpc>
            </a:pPr>
            <a:r>
              <a:rPr lang="en-US" sz="2400" b="1" dirty="0" smtClean="0">
                <a:solidFill>
                  <a:schemeClr val="bg1"/>
                </a:solidFill>
              </a:rPr>
              <a:t>Y</a:t>
            </a:r>
            <a:r>
              <a:rPr lang="en-US" sz="2400" b="1" baseline="-25000" dirty="0" smtClean="0">
                <a:solidFill>
                  <a:schemeClr val="bg1"/>
                </a:solidFill>
              </a:rPr>
              <a:t>i</a:t>
            </a:r>
            <a:r>
              <a:rPr lang="en-US" sz="2400" b="1" dirty="0" smtClean="0">
                <a:solidFill>
                  <a:schemeClr val="bg1"/>
                </a:solidFill>
              </a:rPr>
              <a:t> = f(t)</a:t>
            </a:r>
          </a:p>
          <a:p>
            <a:pPr>
              <a:lnSpc>
                <a:spcPct val="150000"/>
              </a:lnSpc>
            </a:pPr>
            <a:r>
              <a:rPr lang="en-US" sz="2400" dirty="0" smtClean="0">
                <a:solidFill>
                  <a:schemeClr val="bg1"/>
                </a:solidFill>
              </a:rPr>
              <a:t>where </a:t>
            </a:r>
            <a:r>
              <a:rPr lang="en-US" sz="2400" b="1" dirty="0">
                <a:solidFill>
                  <a:schemeClr val="bg1"/>
                </a:solidFill>
              </a:rPr>
              <a:t>Y</a:t>
            </a:r>
            <a:r>
              <a:rPr lang="en-US" sz="2400" b="1" baseline="-25000" dirty="0">
                <a:solidFill>
                  <a:schemeClr val="bg1"/>
                </a:solidFill>
              </a:rPr>
              <a:t>i</a:t>
            </a:r>
            <a:r>
              <a:rPr lang="en-US" sz="2400" b="1" dirty="0">
                <a:solidFill>
                  <a:schemeClr val="bg1"/>
                </a:solidFill>
              </a:rPr>
              <a:t> </a:t>
            </a:r>
            <a:r>
              <a:rPr lang="en-US" sz="2400" dirty="0" smtClean="0">
                <a:solidFill>
                  <a:schemeClr val="bg1"/>
                </a:solidFill>
              </a:rPr>
              <a:t>is the value of the phenomenon ( or variable ) under consideration at time </a:t>
            </a:r>
            <a:r>
              <a:rPr lang="en-US" sz="2400" b="1" dirty="0" smtClean="0">
                <a:solidFill>
                  <a:schemeClr val="bg1"/>
                </a:solidFill>
              </a:rPr>
              <a:t>t</a:t>
            </a:r>
            <a:r>
              <a:rPr lang="en-US" sz="2400" dirty="0" smtClean="0">
                <a:solidFill>
                  <a:schemeClr val="bg1"/>
                </a:solidFill>
              </a:rPr>
              <a:t>.</a:t>
            </a:r>
          </a:p>
          <a:p>
            <a:pPr>
              <a:lnSpc>
                <a:spcPct val="150000"/>
              </a:lnSpc>
            </a:pPr>
            <a:r>
              <a:rPr lang="en-US" sz="2800" b="1" u="sng" dirty="0">
                <a:solidFill>
                  <a:schemeClr val="bg1"/>
                </a:solidFill>
              </a:rPr>
              <a:t>Components of Time </a:t>
            </a:r>
            <a:r>
              <a:rPr lang="en-US" sz="2800" b="1" u="sng" dirty="0" smtClean="0">
                <a:solidFill>
                  <a:schemeClr val="bg1"/>
                </a:solidFill>
              </a:rPr>
              <a:t>Series </a:t>
            </a:r>
            <a:r>
              <a:rPr lang="en-US" sz="2800" b="1" dirty="0" smtClean="0">
                <a:solidFill>
                  <a:schemeClr val="bg1"/>
                </a:solidFill>
              </a:rPr>
              <a:t>-</a:t>
            </a:r>
          </a:p>
          <a:p>
            <a:r>
              <a:rPr lang="en-US" sz="2400" dirty="0">
                <a:solidFill>
                  <a:schemeClr val="bg1"/>
                </a:solidFill>
              </a:rPr>
              <a:t>The various forces at work, affecting the values of a phenomenon in a time series, can be broadly classified into the following four categories, commonly known as the components of a time series, some or all of which are present (in a given time series) in varying degrees.</a:t>
            </a:r>
          </a:p>
          <a:p>
            <a:r>
              <a:rPr lang="en-US" sz="2400" dirty="0">
                <a:solidFill>
                  <a:schemeClr val="bg1"/>
                </a:solidFill>
              </a:rPr>
              <a:t>(</a:t>
            </a:r>
            <a:r>
              <a:rPr lang="en-US" sz="2400" dirty="0" smtClean="0">
                <a:solidFill>
                  <a:schemeClr val="bg1"/>
                </a:solidFill>
              </a:rPr>
              <a:t>a)Secular </a:t>
            </a:r>
            <a:r>
              <a:rPr lang="en-US" sz="2400" dirty="0">
                <a:solidFill>
                  <a:schemeClr val="bg1"/>
                </a:solidFill>
              </a:rPr>
              <a:t>Trend or Long-term Movement</a:t>
            </a:r>
          </a:p>
          <a:p>
            <a:r>
              <a:rPr lang="en-US" sz="2400" dirty="0">
                <a:solidFill>
                  <a:schemeClr val="bg1"/>
                </a:solidFill>
              </a:rPr>
              <a:t>(</a:t>
            </a:r>
            <a:r>
              <a:rPr lang="en-US" sz="2400" dirty="0" smtClean="0">
                <a:solidFill>
                  <a:schemeClr val="bg1"/>
                </a:solidFill>
              </a:rPr>
              <a:t>b)Periodic </a:t>
            </a:r>
            <a:r>
              <a:rPr lang="en-US" sz="2400" dirty="0">
                <a:solidFill>
                  <a:schemeClr val="bg1"/>
                </a:solidFill>
              </a:rPr>
              <a:t>Changes or Short-term Fluctuations</a:t>
            </a:r>
          </a:p>
          <a:p>
            <a:r>
              <a:rPr lang="en-US" sz="2400" dirty="0" smtClean="0">
                <a:solidFill>
                  <a:schemeClr val="bg1"/>
                </a:solidFill>
              </a:rPr>
              <a:t>        </a:t>
            </a:r>
            <a:r>
              <a:rPr lang="en-US" sz="2400" dirty="0" err="1" smtClean="0">
                <a:solidFill>
                  <a:schemeClr val="bg1"/>
                </a:solidFill>
              </a:rPr>
              <a:t>i</a:t>
            </a:r>
            <a:r>
              <a:rPr lang="en-US" sz="2400" dirty="0" smtClean="0">
                <a:solidFill>
                  <a:schemeClr val="bg1"/>
                </a:solidFill>
              </a:rPr>
              <a:t>)Seasonal </a:t>
            </a:r>
            <a:r>
              <a:rPr lang="en-US" sz="2400" dirty="0">
                <a:solidFill>
                  <a:schemeClr val="bg1"/>
                </a:solidFill>
              </a:rPr>
              <a:t>variations, and</a:t>
            </a:r>
          </a:p>
          <a:p>
            <a:r>
              <a:rPr lang="en-US" sz="2400" dirty="0" smtClean="0">
                <a:solidFill>
                  <a:schemeClr val="bg1"/>
                </a:solidFill>
              </a:rPr>
              <a:t>       ii)Cyclic </a:t>
            </a:r>
            <a:r>
              <a:rPr lang="en-US" sz="2400" dirty="0">
                <a:solidFill>
                  <a:schemeClr val="bg1"/>
                </a:solidFill>
              </a:rPr>
              <a:t>variations</a:t>
            </a:r>
          </a:p>
          <a:p>
            <a:r>
              <a:rPr lang="en-US" sz="2400" dirty="0">
                <a:solidFill>
                  <a:schemeClr val="bg1"/>
                </a:solidFill>
              </a:rPr>
              <a:t>(</a:t>
            </a:r>
            <a:r>
              <a:rPr lang="en-US" sz="2400" dirty="0" smtClean="0">
                <a:solidFill>
                  <a:schemeClr val="bg1"/>
                </a:solidFill>
              </a:rPr>
              <a:t>c)Random </a:t>
            </a:r>
            <a:r>
              <a:rPr lang="en-US" sz="2400" dirty="0">
                <a:solidFill>
                  <a:schemeClr val="bg1"/>
                </a:solidFill>
              </a:rPr>
              <a:t>or Irregular </a:t>
            </a:r>
            <a:r>
              <a:rPr lang="en-US" sz="2400" dirty="0" smtClean="0">
                <a:solidFill>
                  <a:schemeClr val="bg1"/>
                </a:solidFill>
              </a:rPr>
              <a:t>Movements</a:t>
            </a:r>
            <a:endParaRPr lang="en-US" sz="2400" dirty="0">
              <a:solidFill>
                <a:schemeClr val="bg1"/>
              </a:solidFill>
            </a:endParaRPr>
          </a:p>
        </p:txBody>
      </p:sp>
      <p:sp>
        <p:nvSpPr>
          <p:cNvPr id="5" name="Rectangle 4"/>
          <p:cNvSpPr/>
          <p:nvPr/>
        </p:nvSpPr>
        <p:spPr>
          <a:xfrm>
            <a:off x="5349922" y="1173707"/>
            <a:ext cx="1119117" cy="436729"/>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Tree>
    <p:extLst>
      <p:ext uri="{BB962C8B-B14F-4D97-AF65-F5344CB8AC3E}">
        <p14:creationId xmlns:p14="http://schemas.microsoft.com/office/powerpoint/2010/main" val="826030875"/>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13</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723331" y="381278"/>
            <a:ext cx="10630469" cy="6340197"/>
          </a:xfrm>
          <a:prstGeom prst="rect">
            <a:avLst/>
          </a:prstGeom>
          <a:noFill/>
        </p:spPr>
        <p:txBody>
          <a:bodyPr wrap="square" rtlCol="0">
            <a:spAutoFit/>
          </a:bodyPr>
          <a:lstStyle/>
          <a:p>
            <a:r>
              <a:rPr lang="en-US" sz="2800" b="1" u="sng" dirty="0">
                <a:solidFill>
                  <a:schemeClr val="bg1"/>
                </a:solidFill>
              </a:rPr>
              <a:t>Uses of Time </a:t>
            </a:r>
            <a:r>
              <a:rPr lang="en-US" sz="2800" b="1" u="sng" dirty="0" smtClean="0">
                <a:solidFill>
                  <a:schemeClr val="bg1"/>
                </a:solidFill>
              </a:rPr>
              <a:t>Series</a:t>
            </a:r>
            <a:r>
              <a:rPr lang="en-US" sz="2800" b="1" dirty="0" smtClean="0">
                <a:solidFill>
                  <a:schemeClr val="bg1"/>
                </a:solidFill>
              </a:rPr>
              <a:t> -</a:t>
            </a:r>
            <a:endParaRPr lang="en-US" sz="2800" b="1" u="sng" dirty="0">
              <a:solidFill>
                <a:schemeClr val="bg1"/>
              </a:solidFill>
            </a:endParaRPr>
          </a:p>
          <a:p>
            <a:r>
              <a:rPr lang="en-US" sz="2400" dirty="0">
                <a:solidFill>
                  <a:schemeClr val="bg1"/>
                </a:solidFill>
              </a:rPr>
              <a:t>The time series analysis is of greater importance not only to businessman or an economist but also to people working in various disciplines in natural, social and physical sciences. Some of its uses are enumerated below:</a:t>
            </a:r>
          </a:p>
          <a:p>
            <a:pPr marL="342900" lvl="0" indent="-342900">
              <a:buFont typeface="Arial" panose="020B0604020202020204" pitchFamily="34" charset="0"/>
              <a:buChar char="•"/>
            </a:pPr>
            <a:r>
              <a:rPr lang="en-US" sz="2400" dirty="0">
                <a:solidFill>
                  <a:schemeClr val="bg1"/>
                </a:solidFill>
              </a:rPr>
              <a:t>It enables us to study the past behavior of the phenomenon under consideration, i.e., to determine the type and nature of the variations in the data.</a:t>
            </a:r>
          </a:p>
          <a:p>
            <a:pPr marL="342900" lvl="0" indent="-342900">
              <a:buFont typeface="Arial" panose="020B0604020202020204" pitchFamily="34" charset="0"/>
              <a:buChar char="•"/>
            </a:pPr>
            <a:r>
              <a:rPr lang="en-US" sz="2400" dirty="0">
                <a:solidFill>
                  <a:schemeClr val="bg1"/>
                </a:solidFill>
              </a:rPr>
              <a:t>The segregation and study of the various components is of paramount importance to a businessman in the planning of future operations and in the formulation of executive and policy decisions.</a:t>
            </a:r>
          </a:p>
          <a:p>
            <a:pPr marL="342900" lvl="0" indent="-342900">
              <a:buFont typeface="Arial" panose="020B0604020202020204" pitchFamily="34" charset="0"/>
              <a:buChar char="•"/>
            </a:pPr>
            <a:r>
              <a:rPr lang="en-US" sz="2400" dirty="0">
                <a:solidFill>
                  <a:schemeClr val="bg1"/>
                </a:solidFill>
              </a:rPr>
              <a:t>It helps to compare the actual current performance of accomplishments with the expected ones (on the basis of the past performances) and </a:t>
            </a:r>
            <a:r>
              <a:rPr lang="en-US" sz="2400" dirty="0" err="1">
                <a:solidFill>
                  <a:schemeClr val="bg1"/>
                </a:solidFill>
              </a:rPr>
              <a:t>analyse</a:t>
            </a:r>
            <a:r>
              <a:rPr lang="en-US" sz="2400" dirty="0">
                <a:solidFill>
                  <a:schemeClr val="bg1"/>
                </a:solidFill>
              </a:rPr>
              <a:t> the cause of such variations, if any.</a:t>
            </a:r>
          </a:p>
          <a:p>
            <a:pPr marL="342900" lvl="0" indent="-342900">
              <a:buFont typeface="Arial" panose="020B0604020202020204" pitchFamily="34" charset="0"/>
              <a:buChar char="•"/>
            </a:pPr>
            <a:r>
              <a:rPr lang="en-US" sz="2400" dirty="0">
                <a:solidFill>
                  <a:schemeClr val="bg1"/>
                </a:solidFill>
              </a:rPr>
              <a:t>It enables us to predict or estimate or </a:t>
            </a:r>
            <a:r>
              <a:rPr lang="en-US" sz="2400" dirty="0" err="1">
                <a:solidFill>
                  <a:schemeClr val="bg1"/>
                </a:solidFill>
              </a:rPr>
              <a:t>forcast</a:t>
            </a:r>
            <a:r>
              <a:rPr lang="en-US" sz="2400" dirty="0">
                <a:solidFill>
                  <a:schemeClr val="bg1"/>
                </a:solidFill>
              </a:rPr>
              <a:t> the behavior of the phenomenon in future which is very essential for business planning.</a:t>
            </a:r>
          </a:p>
          <a:p>
            <a:pPr marL="342900" lvl="0" indent="-342900">
              <a:buFont typeface="Arial" panose="020B0604020202020204" pitchFamily="34" charset="0"/>
              <a:buChar char="•"/>
            </a:pPr>
            <a:r>
              <a:rPr lang="en-US" sz="2400" dirty="0">
                <a:solidFill>
                  <a:schemeClr val="bg1"/>
                </a:solidFill>
              </a:rPr>
              <a:t>It helps us to compare the changes in the values of different phenomenon at different times or places, etc.</a:t>
            </a:r>
          </a:p>
          <a:p>
            <a:endParaRPr lang="en-US" dirty="0">
              <a:solidFill>
                <a:schemeClr val="bg1"/>
              </a:solidFill>
            </a:endParaRPr>
          </a:p>
        </p:txBody>
      </p:sp>
    </p:spTree>
    <p:extLst>
      <p:ext uri="{BB962C8B-B14F-4D97-AF65-F5344CB8AC3E}">
        <p14:creationId xmlns:p14="http://schemas.microsoft.com/office/powerpoint/2010/main" val="1035761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14</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808061" y="363915"/>
            <a:ext cx="10575878" cy="2800767"/>
          </a:xfrm>
          <a:prstGeom prst="rect">
            <a:avLst/>
          </a:prstGeom>
          <a:noFill/>
        </p:spPr>
        <p:txBody>
          <a:bodyPr wrap="square" rtlCol="0">
            <a:spAutoFit/>
          </a:bodyPr>
          <a:lstStyle/>
          <a:p>
            <a:r>
              <a:rPr lang="en-US" sz="2800" b="1" u="sng" dirty="0">
                <a:solidFill>
                  <a:schemeClr val="bg1"/>
                </a:solidFill>
                <a:latin typeface="Times New Roman" panose="02020603050405020304" pitchFamily="18" charset="0"/>
                <a:cs typeface="Times New Roman" panose="02020603050405020304" pitchFamily="18" charset="0"/>
              </a:rPr>
              <a:t>ARIMA </a:t>
            </a:r>
            <a:r>
              <a:rPr lang="en-US" sz="2800" b="1" u="sng" dirty="0" smtClean="0">
                <a:solidFill>
                  <a:schemeClr val="bg1"/>
                </a:solidFill>
                <a:latin typeface="Times New Roman" panose="02020603050405020304" pitchFamily="18" charset="0"/>
                <a:cs typeface="Times New Roman" panose="02020603050405020304" pitchFamily="18" charset="0"/>
              </a:rPr>
              <a:t>Model</a:t>
            </a:r>
            <a:r>
              <a:rPr lang="en-US" sz="2800" b="1" dirty="0" smtClean="0">
                <a:solidFill>
                  <a:schemeClr val="bg1"/>
                </a:solidFill>
                <a:latin typeface="Times New Roman" panose="02020603050405020304" pitchFamily="18" charset="0"/>
                <a:cs typeface="Times New Roman" panose="02020603050405020304" pitchFamily="18" charset="0"/>
              </a:rPr>
              <a:t> -</a:t>
            </a:r>
            <a:endParaRPr lang="en-US" sz="2800" b="1" u="sng" dirty="0" smtClean="0">
              <a:solidFill>
                <a:schemeClr val="bg1"/>
              </a:solidFill>
              <a:latin typeface="Times New Roman" panose="02020603050405020304" pitchFamily="18" charset="0"/>
              <a:cs typeface="Times New Roman" panose="02020603050405020304" pitchFamily="18" charset="0"/>
            </a:endParaRPr>
          </a:p>
          <a:p>
            <a:endParaRPr lang="en-US" sz="2800" b="1" u="sng" dirty="0">
              <a:solidFill>
                <a:schemeClr val="bg1"/>
              </a:solidFill>
            </a:endParaRPr>
          </a:p>
          <a:p>
            <a:r>
              <a:rPr lang="en-US" sz="2400" b="1" dirty="0">
                <a:solidFill>
                  <a:schemeClr val="bg1"/>
                </a:solidFill>
                <a:latin typeface="Times New Roman" panose="02020603050405020304" pitchFamily="18" charset="0"/>
                <a:cs typeface="Times New Roman" panose="02020603050405020304" pitchFamily="18" charset="0"/>
              </a:rPr>
              <a:t>ARIMA(</a:t>
            </a:r>
            <a:r>
              <a:rPr lang="en-US" sz="2400" b="1" dirty="0" err="1">
                <a:solidFill>
                  <a:schemeClr val="bg1"/>
                </a:solidFill>
                <a:latin typeface="Times New Roman" panose="02020603050405020304" pitchFamily="18" charset="0"/>
                <a:cs typeface="Times New Roman" panose="02020603050405020304" pitchFamily="18" charset="0"/>
              </a:rPr>
              <a:t>p,d,q</a:t>
            </a:r>
            <a:r>
              <a:rPr lang="en-US" sz="2400" b="1" dirty="0">
                <a:solidFill>
                  <a:schemeClr val="bg1"/>
                </a:solidFill>
                <a:latin typeface="Times New Roman" panose="02020603050405020304" pitchFamily="18" charset="0"/>
                <a:cs typeface="Times New Roman" panose="02020603050405020304" pitchFamily="18" charset="0"/>
              </a:rPr>
              <a:t>)</a:t>
            </a:r>
            <a:r>
              <a:rPr lang="en-US" sz="2400" dirty="0">
                <a:solidFill>
                  <a:schemeClr val="bg1"/>
                </a:solidFill>
                <a:latin typeface="Times New Roman" panose="02020603050405020304" pitchFamily="18" charset="0"/>
                <a:cs typeface="Times New Roman" panose="02020603050405020304" pitchFamily="18" charset="0"/>
              </a:rPr>
              <a:t> is composite of Autoregressive (</a:t>
            </a:r>
            <a:r>
              <a:rPr lang="en-US" sz="2400" b="1" dirty="0">
                <a:solidFill>
                  <a:schemeClr val="bg1"/>
                </a:solidFill>
                <a:latin typeface="Times New Roman" panose="02020603050405020304" pitchFamily="18" charset="0"/>
                <a:cs typeface="Times New Roman" panose="02020603050405020304" pitchFamily="18" charset="0"/>
              </a:rPr>
              <a:t>AR</a:t>
            </a:r>
            <a:r>
              <a:rPr lang="en-US" sz="2400" dirty="0">
                <a:solidFill>
                  <a:schemeClr val="bg1"/>
                </a:solidFill>
                <a:latin typeface="Times New Roman" panose="02020603050405020304" pitchFamily="18" charset="0"/>
                <a:cs typeface="Times New Roman" panose="02020603050405020304" pitchFamily="18" charset="0"/>
              </a:rPr>
              <a:t>) model, Moving Average (</a:t>
            </a:r>
            <a:r>
              <a:rPr lang="en-US" sz="2400" b="1" dirty="0">
                <a:solidFill>
                  <a:schemeClr val="bg1"/>
                </a:solidFill>
                <a:latin typeface="Times New Roman" panose="02020603050405020304" pitchFamily="18" charset="0"/>
                <a:cs typeface="Times New Roman" panose="02020603050405020304" pitchFamily="18" charset="0"/>
              </a:rPr>
              <a:t>MA</a:t>
            </a:r>
            <a:r>
              <a:rPr lang="en-US" sz="2400" dirty="0">
                <a:solidFill>
                  <a:schemeClr val="bg1"/>
                </a:solidFill>
                <a:latin typeface="Times New Roman" panose="02020603050405020304" pitchFamily="18" charset="0"/>
                <a:cs typeface="Times New Roman" panose="02020603050405020304" pitchFamily="18" charset="0"/>
              </a:rPr>
              <a:t>) model, and ‘</a:t>
            </a:r>
            <a:r>
              <a:rPr lang="en-US" sz="2400" b="1" dirty="0">
                <a:solidFill>
                  <a:schemeClr val="bg1"/>
                </a:solidFill>
                <a:latin typeface="Times New Roman" panose="02020603050405020304" pitchFamily="18" charset="0"/>
                <a:cs typeface="Times New Roman" panose="02020603050405020304" pitchFamily="18" charset="0"/>
              </a:rPr>
              <a:t>I</a:t>
            </a:r>
            <a:r>
              <a:rPr lang="en-US" sz="2400" dirty="0">
                <a:solidFill>
                  <a:schemeClr val="bg1"/>
                </a:solidFill>
                <a:latin typeface="Times New Roman" panose="02020603050405020304" pitchFamily="18" charset="0"/>
                <a:cs typeface="Times New Roman" panose="02020603050405020304" pitchFamily="18" charset="0"/>
              </a:rPr>
              <a:t>’ stands for integration; where </a:t>
            </a:r>
            <a:r>
              <a:rPr lang="en-US" sz="2400" b="1" dirty="0">
                <a:solidFill>
                  <a:schemeClr val="bg1"/>
                </a:solidFill>
                <a:latin typeface="Times New Roman" panose="02020603050405020304" pitchFamily="18" charset="0"/>
                <a:cs typeface="Times New Roman" panose="02020603050405020304" pitchFamily="18" charset="0"/>
              </a:rPr>
              <a:t>p</a:t>
            </a:r>
            <a:r>
              <a:rPr lang="en-US" sz="2400" dirty="0">
                <a:solidFill>
                  <a:schemeClr val="bg1"/>
                </a:solidFill>
                <a:latin typeface="Times New Roman" panose="02020603050405020304" pitchFamily="18" charset="0"/>
                <a:cs typeface="Times New Roman" panose="02020603050405020304" pitchFamily="18" charset="0"/>
              </a:rPr>
              <a:t> is order of </a:t>
            </a:r>
            <a:r>
              <a:rPr lang="en-US" sz="2400" dirty="0" err="1">
                <a:solidFill>
                  <a:schemeClr val="bg1"/>
                </a:solidFill>
                <a:latin typeface="Times New Roman" panose="02020603050405020304" pitchFamily="18" charset="0"/>
                <a:cs typeface="Times New Roman" panose="02020603050405020304" pitchFamily="18" charset="0"/>
              </a:rPr>
              <a:t>autoregression</a:t>
            </a:r>
            <a:r>
              <a:rPr lang="en-US" sz="2400" dirty="0">
                <a:solidFill>
                  <a:schemeClr val="bg1"/>
                </a:solidFill>
                <a:latin typeface="Times New Roman" panose="02020603050405020304" pitchFamily="18" charset="0"/>
                <a:cs typeface="Times New Roman" panose="02020603050405020304" pitchFamily="18" charset="0"/>
              </a:rPr>
              <a:t>, </a:t>
            </a:r>
            <a:r>
              <a:rPr lang="en-US" sz="2400" b="1" dirty="0">
                <a:solidFill>
                  <a:schemeClr val="bg1"/>
                </a:solidFill>
                <a:latin typeface="Times New Roman" panose="02020603050405020304" pitchFamily="18" charset="0"/>
                <a:cs typeface="Times New Roman" panose="02020603050405020304" pitchFamily="18" charset="0"/>
              </a:rPr>
              <a:t>d</a:t>
            </a:r>
            <a:r>
              <a:rPr lang="en-US" sz="2400" dirty="0">
                <a:solidFill>
                  <a:schemeClr val="bg1"/>
                </a:solidFill>
                <a:latin typeface="Times New Roman" panose="02020603050405020304" pitchFamily="18" charset="0"/>
                <a:cs typeface="Times New Roman" panose="02020603050405020304" pitchFamily="18" charset="0"/>
              </a:rPr>
              <a:t> is order of differencing, </a:t>
            </a:r>
            <a:r>
              <a:rPr lang="en-US" sz="2400" b="1" dirty="0">
                <a:solidFill>
                  <a:schemeClr val="bg1"/>
                </a:solidFill>
                <a:latin typeface="Times New Roman" panose="02020603050405020304" pitchFamily="18" charset="0"/>
                <a:cs typeface="Times New Roman" panose="02020603050405020304" pitchFamily="18" charset="0"/>
              </a:rPr>
              <a:t>q</a:t>
            </a:r>
            <a:r>
              <a:rPr lang="en-US" sz="2400" dirty="0">
                <a:solidFill>
                  <a:schemeClr val="bg1"/>
                </a:solidFill>
                <a:latin typeface="Times New Roman" panose="02020603050405020304" pitchFamily="18" charset="0"/>
                <a:cs typeface="Times New Roman" panose="02020603050405020304" pitchFamily="18" charset="0"/>
              </a:rPr>
              <a:t> is order of moving average</a:t>
            </a:r>
            <a:r>
              <a:rPr lang="en-US" sz="2400" dirty="0" smtClean="0">
                <a:solidFill>
                  <a:schemeClr val="bg1"/>
                </a:solidFill>
                <a:latin typeface="Times New Roman" panose="02020603050405020304" pitchFamily="18" charset="0"/>
                <a:cs typeface="Times New Roman" panose="02020603050405020304" pitchFamily="18" charset="0"/>
              </a:rPr>
              <a:t>.</a:t>
            </a:r>
          </a:p>
          <a:p>
            <a:endParaRPr lang="en-US" sz="2400" dirty="0">
              <a:solidFill>
                <a:schemeClr val="bg1"/>
              </a:solidFill>
            </a:endParaRPr>
          </a:p>
          <a:p>
            <a:endParaRPr lang="en-US" sz="2400" dirty="0">
              <a:solidFill>
                <a:schemeClr val="bg1"/>
              </a:solidFill>
            </a:endParaRPr>
          </a:p>
        </p:txBody>
      </p:sp>
      <p:graphicFrame>
        <p:nvGraphicFramePr>
          <p:cNvPr id="5" name="Diagram 4"/>
          <p:cNvGraphicFramePr/>
          <p:nvPr>
            <p:extLst>
              <p:ext uri="{D42A27DB-BD31-4B8C-83A1-F6EECF244321}">
                <p14:modId xmlns:p14="http://schemas.microsoft.com/office/powerpoint/2010/main" val="1647073954"/>
              </p:ext>
            </p:extLst>
          </p:nvPr>
        </p:nvGraphicFramePr>
        <p:xfrm>
          <a:off x="2182126" y="1764298"/>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54707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15</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746077" y="423081"/>
            <a:ext cx="10699845" cy="5878532"/>
          </a:xfrm>
          <a:prstGeom prst="rect">
            <a:avLst/>
          </a:prstGeom>
          <a:noFill/>
        </p:spPr>
        <p:txBody>
          <a:bodyPr wrap="square" rtlCol="0">
            <a:spAutoFit/>
          </a:bodyPr>
          <a:lstStyle/>
          <a:p>
            <a:r>
              <a:rPr lang="en-US" sz="2000" dirty="0">
                <a:solidFill>
                  <a:schemeClr val="bg1"/>
                </a:solidFill>
                <a:latin typeface="Times New Roman" panose="02020603050405020304" pitchFamily="18" charset="0"/>
                <a:cs typeface="Times New Roman" panose="02020603050405020304" pitchFamily="18" charset="0"/>
              </a:rPr>
              <a:t>Autoregressive model (AR) is effectively merged with the Moving Averages model (MA) to formulate a useful time-series model, ARIMA model. The </a:t>
            </a:r>
            <a:r>
              <a:rPr lang="en-US" sz="2000" dirty="0" err="1">
                <a:solidFill>
                  <a:schemeClr val="bg1"/>
                </a:solidFill>
                <a:latin typeface="Times New Roman" panose="02020603050405020304" pitchFamily="18" charset="0"/>
                <a:cs typeface="Times New Roman" panose="02020603050405020304" pitchFamily="18" charset="0"/>
              </a:rPr>
              <a:t>Autoregression</a:t>
            </a:r>
            <a:r>
              <a:rPr lang="en-US" sz="2000" dirty="0">
                <a:solidFill>
                  <a:schemeClr val="bg1"/>
                </a:solidFill>
                <a:latin typeface="Times New Roman" panose="02020603050405020304" pitchFamily="18" charset="0"/>
                <a:cs typeface="Times New Roman" panose="02020603050405020304" pitchFamily="18" charset="0"/>
              </a:rPr>
              <a:t> (AR) element of the model shows a changing variable that regresses on its own prior values and the Moving Average (MA) element incorporates the dependency between an observation and a residual error from a moving average model applied to prior observations. However, this model can only be applied to stationary data. Since many real-life datasets consist of an element of non-stationarity, to model such datasets, ARIMA model was developed. This model is open for non-stationary data as the Integrated (I) factor of the model represents the differencing of raw observations to allow the time-series to become stationary</a:t>
            </a:r>
            <a:r>
              <a:rPr lang="en-US" sz="2000" dirty="0" smtClean="0">
                <a:solidFill>
                  <a:schemeClr val="bg1"/>
                </a:solidFill>
                <a:latin typeface="Times New Roman" panose="02020603050405020304" pitchFamily="18" charset="0"/>
                <a:cs typeface="Times New Roman" panose="02020603050405020304" pitchFamily="18" charset="0"/>
              </a:rPr>
              <a:t>.</a:t>
            </a:r>
          </a:p>
          <a:p>
            <a:endParaRPr lang="en-US" sz="2000" dirty="0">
              <a:solidFill>
                <a:schemeClr val="bg1"/>
              </a:solidFill>
              <a:latin typeface="Times New Roman" panose="02020603050405020304" pitchFamily="18" charset="0"/>
              <a:cs typeface="Times New Roman" panose="02020603050405020304" pitchFamily="18" charset="0"/>
            </a:endParaRPr>
          </a:p>
          <a:p>
            <a:r>
              <a:rPr lang="en-US" sz="2800" u="sng" dirty="0" smtClean="0">
                <a:solidFill>
                  <a:schemeClr val="bg1"/>
                </a:solidFill>
              </a:rPr>
              <a:t>Uses </a:t>
            </a:r>
            <a:r>
              <a:rPr lang="en-US" sz="2800" u="sng" dirty="0">
                <a:solidFill>
                  <a:schemeClr val="bg1"/>
                </a:solidFill>
              </a:rPr>
              <a:t>of ARIMA </a:t>
            </a:r>
            <a:r>
              <a:rPr lang="en-US" sz="2800" u="sng" dirty="0" smtClean="0">
                <a:solidFill>
                  <a:schemeClr val="bg1"/>
                </a:solidFill>
              </a:rPr>
              <a:t>Modeling </a:t>
            </a:r>
            <a:r>
              <a:rPr lang="en-US" sz="2800" dirty="0" smtClean="0">
                <a:solidFill>
                  <a:schemeClr val="bg1"/>
                </a:solidFill>
              </a:rPr>
              <a:t>-</a:t>
            </a:r>
            <a:endParaRPr lang="en-US" sz="2800" u="sng" dirty="0" smtClean="0">
              <a:solidFill>
                <a:schemeClr val="bg1"/>
              </a:solidFill>
            </a:endParaRPr>
          </a:p>
          <a:p>
            <a:r>
              <a:rPr lang="en-US" sz="2400" dirty="0" smtClean="0">
                <a:solidFill>
                  <a:schemeClr val="bg1"/>
                </a:solidFill>
              </a:rPr>
              <a:t>ARIMA </a:t>
            </a:r>
            <a:r>
              <a:rPr lang="en-US" sz="2400" dirty="0">
                <a:solidFill>
                  <a:schemeClr val="bg1"/>
                </a:solidFill>
              </a:rPr>
              <a:t>modelling can be used almost in every case where there is Non- Stationary Data Set is present but we can outline some of the fields it is widely used:</a:t>
            </a:r>
          </a:p>
          <a:p>
            <a:r>
              <a:rPr lang="en-US" sz="2400" dirty="0">
                <a:solidFill>
                  <a:schemeClr val="bg1"/>
                </a:solidFill>
              </a:rPr>
              <a:t>•	Stock prices</a:t>
            </a:r>
          </a:p>
          <a:p>
            <a:r>
              <a:rPr lang="en-US" sz="2400" dirty="0">
                <a:solidFill>
                  <a:schemeClr val="bg1"/>
                </a:solidFill>
              </a:rPr>
              <a:t>•	Weather conditions in specific regions</a:t>
            </a:r>
          </a:p>
          <a:p>
            <a:r>
              <a:rPr lang="en-US" sz="2400" dirty="0">
                <a:solidFill>
                  <a:schemeClr val="bg1"/>
                </a:solidFill>
              </a:rPr>
              <a:t>•	Electricity consumption in a household</a:t>
            </a:r>
          </a:p>
          <a:p>
            <a:r>
              <a:rPr lang="en-US" sz="2400" dirty="0">
                <a:solidFill>
                  <a:schemeClr val="bg1"/>
                </a:solidFill>
              </a:rPr>
              <a:t>•	Heart rate monitoring</a:t>
            </a:r>
          </a:p>
          <a:p>
            <a:r>
              <a:rPr lang="en-US" sz="2400" dirty="0">
                <a:solidFill>
                  <a:schemeClr val="bg1"/>
                </a:solidFill>
              </a:rPr>
              <a:t>•	Total sales in a store</a:t>
            </a:r>
            <a:endParaRPr lang="en-US" sz="2400" dirty="0">
              <a:solidFill>
                <a:schemeClr val="bg1"/>
              </a:solidFill>
            </a:endParaRPr>
          </a:p>
        </p:txBody>
      </p:sp>
    </p:spTree>
    <p:extLst>
      <p:ext uri="{BB962C8B-B14F-4D97-AF65-F5344CB8AC3E}">
        <p14:creationId xmlns:p14="http://schemas.microsoft.com/office/powerpoint/2010/main" val="1634953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16</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777923" y="363915"/>
            <a:ext cx="10413242" cy="6494085"/>
          </a:xfrm>
          <a:prstGeom prst="rect">
            <a:avLst/>
          </a:prstGeom>
          <a:noFill/>
        </p:spPr>
        <p:txBody>
          <a:bodyPr wrap="square" rtlCol="0">
            <a:spAutoFit/>
          </a:bodyPr>
          <a:lstStyle/>
          <a:p>
            <a:r>
              <a:rPr lang="en-US" sz="2800" b="1" u="sng" dirty="0">
                <a:solidFill>
                  <a:schemeClr val="bg1"/>
                </a:solidFill>
              </a:rPr>
              <a:t>R </a:t>
            </a:r>
            <a:r>
              <a:rPr lang="en-US" sz="2800" b="1" u="sng" dirty="0" smtClean="0">
                <a:solidFill>
                  <a:schemeClr val="bg1"/>
                </a:solidFill>
              </a:rPr>
              <a:t>programing </a:t>
            </a:r>
            <a:r>
              <a:rPr lang="en-US" sz="2800" b="1" dirty="0" smtClean="0">
                <a:solidFill>
                  <a:schemeClr val="bg1"/>
                </a:solidFill>
              </a:rPr>
              <a:t>–</a:t>
            </a:r>
          </a:p>
          <a:p>
            <a:endParaRPr lang="en-US" sz="2800" b="1" u="sng" dirty="0" smtClean="0">
              <a:solidFill>
                <a:schemeClr val="bg1"/>
              </a:solidFill>
            </a:endParaRPr>
          </a:p>
          <a:p>
            <a:r>
              <a:rPr lang="en-US" sz="2400" dirty="0" smtClean="0">
                <a:solidFill>
                  <a:schemeClr val="bg1"/>
                </a:solidFill>
              </a:rPr>
              <a:t>R </a:t>
            </a:r>
            <a:r>
              <a:rPr lang="en-US" sz="2400" dirty="0">
                <a:solidFill>
                  <a:schemeClr val="bg1"/>
                </a:solidFill>
              </a:rPr>
              <a:t>is a language and environment for statistical computing and graphics. It is a free and Open Source Software (FOSS) or GNU or GPL (general public license). A statistician find R easy to use for data analysis because R has built-in commands for most of the common statistical procedures beginning with descriptive statistics through correlation, regression, ANOVA, MANOVA, clustering to factor analysis including quality graphical procedures like histogram, boxplot, scatterplot and so on. </a:t>
            </a:r>
            <a:endParaRPr lang="en-US" sz="2400" dirty="0" smtClean="0">
              <a:solidFill>
                <a:schemeClr val="bg1"/>
              </a:solidFill>
            </a:endParaRPr>
          </a:p>
          <a:p>
            <a:endParaRPr lang="en-US" sz="2400" dirty="0" smtClean="0">
              <a:solidFill>
                <a:schemeClr val="bg1"/>
              </a:solidFill>
            </a:endParaRPr>
          </a:p>
          <a:p>
            <a:r>
              <a:rPr lang="en-US" sz="2400" b="1" dirty="0">
                <a:solidFill>
                  <a:schemeClr val="bg1"/>
                </a:solidFill>
              </a:rPr>
              <a:t>Packages:</a:t>
            </a:r>
            <a:endParaRPr lang="en-US" sz="2400" dirty="0">
              <a:solidFill>
                <a:schemeClr val="bg1"/>
              </a:solidFill>
            </a:endParaRPr>
          </a:p>
          <a:p>
            <a:r>
              <a:rPr lang="en-US" sz="2400" dirty="0">
                <a:solidFill>
                  <a:schemeClr val="bg1"/>
                </a:solidFill>
              </a:rPr>
              <a:t>All R functions and datasets are stored in packages. Only when a package is loaded are its contents available.</a:t>
            </a:r>
          </a:p>
          <a:p>
            <a:r>
              <a:rPr lang="en-US" sz="2400" dirty="0">
                <a:solidFill>
                  <a:schemeClr val="bg1"/>
                </a:solidFill>
              </a:rPr>
              <a:t>R package used for fitting of ARIMA modeling is “forecast”.</a:t>
            </a:r>
          </a:p>
          <a:p>
            <a:r>
              <a:rPr lang="en-US" sz="2400" dirty="0">
                <a:solidFill>
                  <a:schemeClr val="bg1"/>
                </a:solidFill>
              </a:rPr>
              <a:t>For installing R packages use code </a:t>
            </a:r>
            <a:r>
              <a:rPr lang="en-US" sz="2400" i="1" dirty="0" err="1">
                <a:solidFill>
                  <a:schemeClr val="bg1"/>
                </a:solidFill>
              </a:rPr>
              <a:t>install.packages</a:t>
            </a:r>
            <a:r>
              <a:rPr lang="en-US" sz="2400" i="1" dirty="0">
                <a:solidFill>
                  <a:schemeClr val="bg1"/>
                </a:solidFill>
              </a:rPr>
              <a:t>() </a:t>
            </a:r>
            <a:r>
              <a:rPr lang="en-US" sz="2400" dirty="0">
                <a:solidFill>
                  <a:schemeClr val="bg1"/>
                </a:solidFill>
              </a:rPr>
              <a:t>and for loading of packages use cade </a:t>
            </a:r>
            <a:r>
              <a:rPr lang="en-US" sz="2400" i="1" dirty="0">
                <a:solidFill>
                  <a:schemeClr val="bg1"/>
                </a:solidFill>
              </a:rPr>
              <a:t>library(). </a:t>
            </a:r>
            <a:endParaRPr lang="en-US" sz="2400" dirty="0">
              <a:solidFill>
                <a:schemeClr val="bg1"/>
              </a:solidFill>
            </a:endParaRPr>
          </a:p>
          <a:p>
            <a:endParaRPr lang="en-US" sz="2400" dirty="0">
              <a:solidFill>
                <a:schemeClr val="bg1"/>
              </a:solidFill>
            </a:endParaRPr>
          </a:p>
        </p:txBody>
      </p:sp>
    </p:spTree>
    <p:extLst>
      <p:ext uri="{BB962C8B-B14F-4D97-AF65-F5344CB8AC3E}">
        <p14:creationId xmlns:p14="http://schemas.microsoft.com/office/powerpoint/2010/main" val="1368910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17</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534537" y="259307"/>
            <a:ext cx="11122925" cy="6924973"/>
          </a:xfrm>
          <a:prstGeom prst="rect">
            <a:avLst/>
          </a:prstGeom>
          <a:noFill/>
        </p:spPr>
        <p:txBody>
          <a:bodyPr wrap="square" rtlCol="0">
            <a:spAutoFit/>
          </a:bodyPr>
          <a:lstStyle/>
          <a:p>
            <a:r>
              <a:rPr lang="en-US" sz="2400" b="1" dirty="0">
                <a:solidFill>
                  <a:schemeClr val="bg1"/>
                </a:solidFill>
              </a:rPr>
              <a:t>Functions used for time series </a:t>
            </a:r>
            <a:endParaRPr lang="en-US" sz="2400" dirty="0">
              <a:solidFill>
                <a:schemeClr val="bg1"/>
              </a:solidFill>
            </a:endParaRPr>
          </a:p>
          <a:p>
            <a:r>
              <a:rPr lang="en-US" sz="2400" dirty="0">
                <a:solidFill>
                  <a:schemeClr val="bg1"/>
                </a:solidFill>
              </a:rPr>
              <a:t>Time Series Analysis in R is used to see how an object behaves over a period of time. In R Programming Language, it can be easily done by the </a:t>
            </a:r>
            <a:r>
              <a:rPr lang="en-US" sz="2400" dirty="0" err="1">
                <a:solidFill>
                  <a:schemeClr val="bg1"/>
                </a:solidFill>
              </a:rPr>
              <a:t>ts</a:t>
            </a:r>
            <a:r>
              <a:rPr lang="en-US" sz="2400" dirty="0">
                <a:solidFill>
                  <a:schemeClr val="bg1"/>
                </a:solidFill>
              </a:rPr>
              <a:t>() function with some parameters. Time series takes the data vector and each data is connected with a timestamp value as given by the user. This function is mostly used to learn and forecast the behavior of an asset in business for a period of time. For example, sales analysis of a company, inventory analysis, price analysis of a particular stock or market, population analysis, etc.</a:t>
            </a:r>
          </a:p>
          <a:p>
            <a:r>
              <a:rPr lang="en-US" sz="2400" dirty="0">
                <a:solidFill>
                  <a:schemeClr val="bg1"/>
                </a:solidFill>
              </a:rPr>
              <a:t>Syntax:  </a:t>
            </a:r>
            <a:r>
              <a:rPr lang="en-US" sz="2400" b="1" i="1" dirty="0" err="1">
                <a:solidFill>
                  <a:schemeClr val="bg1"/>
                </a:solidFill>
              </a:rPr>
              <a:t>objectName</a:t>
            </a:r>
            <a:r>
              <a:rPr lang="en-US" sz="2400" b="1" i="1" dirty="0">
                <a:solidFill>
                  <a:schemeClr val="bg1"/>
                </a:solidFill>
              </a:rPr>
              <a:t> &lt;- </a:t>
            </a:r>
            <a:r>
              <a:rPr lang="en-US" sz="2400" b="1" i="1" dirty="0" err="1">
                <a:solidFill>
                  <a:schemeClr val="bg1"/>
                </a:solidFill>
              </a:rPr>
              <a:t>ts</a:t>
            </a:r>
            <a:r>
              <a:rPr lang="en-US" sz="2400" b="1" i="1" dirty="0">
                <a:solidFill>
                  <a:schemeClr val="bg1"/>
                </a:solidFill>
              </a:rPr>
              <a:t>(data, start, end, frequency)</a:t>
            </a:r>
            <a:endParaRPr lang="en-US" sz="2400" b="1" dirty="0">
              <a:solidFill>
                <a:schemeClr val="bg1"/>
              </a:solidFill>
            </a:endParaRPr>
          </a:p>
          <a:p>
            <a:r>
              <a:rPr lang="en-US" sz="2400" dirty="0">
                <a:solidFill>
                  <a:schemeClr val="bg1"/>
                </a:solidFill>
              </a:rPr>
              <a:t>where,</a:t>
            </a:r>
          </a:p>
          <a:p>
            <a:r>
              <a:rPr lang="en-US" sz="2400" dirty="0">
                <a:solidFill>
                  <a:schemeClr val="bg1"/>
                </a:solidFill>
              </a:rPr>
              <a:t>data – represents the data vector</a:t>
            </a:r>
          </a:p>
          <a:p>
            <a:r>
              <a:rPr lang="en-US" sz="2400" dirty="0">
                <a:solidFill>
                  <a:schemeClr val="bg1"/>
                </a:solidFill>
              </a:rPr>
              <a:t>start – represents the first observation in time series</a:t>
            </a:r>
          </a:p>
          <a:p>
            <a:r>
              <a:rPr lang="en-US" sz="2400" dirty="0">
                <a:solidFill>
                  <a:schemeClr val="bg1"/>
                </a:solidFill>
              </a:rPr>
              <a:t>end – represents the last observation in time series</a:t>
            </a:r>
          </a:p>
          <a:p>
            <a:r>
              <a:rPr lang="en-US" sz="2400" dirty="0">
                <a:solidFill>
                  <a:schemeClr val="bg1"/>
                </a:solidFill>
              </a:rPr>
              <a:t>frequency – represents number of observations per unit time. For example, frequency=1 for monthly data.</a:t>
            </a:r>
          </a:p>
          <a:p>
            <a:r>
              <a:rPr lang="en-US" sz="2400" dirty="0">
                <a:solidFill>
                  <a:schemeClr val="bg1"/>
                </a:solidFill>
              </a:rPr>
              <a:t>Also, </a:t>
            </a:r>
            <a:r>
              <a:rPr lang="en-US" sz="2400" b="1" dirty="0">
                <a:solidFill>
                  <a:schemeClr val="bg1"/>
                </a:solidFill>
              </a:rPr>
              <a:t>forecasting </a:t>
            </a:r>
            <a:r>
              <a:rPr lang="en-US" sz="2400" dirty="0">
                <a:solidFill>
                  <a:schemeClr val="bg1"/>
                </a:solidFill>
              </a:rPr>
              <a:t>can be done on time series using some models present in R. In this example, </a:t>
            </a:r>
            <a:r>
              <a:rPr lang="en-US" sz="2400" dirty="0" err="1">
                <a:solidFill>
                  <a:schemeClr val="bg1"/>
                </a:solidFill>
              </a:rPr>
              <a:t>Arima</a:t>
            </a:r>
            <a:r>
              <a:rPr lang="en-US" sz="2400" dirty="0">
                <a:solidFill>
                  <a:schemeClr val="bg1"/>
                </a:solidFill>
              </a:rPr>
              <a:t> automated model is used. </a:t>
            </a:r>
          </a:p>
          <a:p>
            <a:r>
              <a:rPr lang="en-US" dirty="0"/>
              <a:t> </a:t>
            </a:r>
          </a:p>
          <a:p>
            <a:endParaRPr lang="en-US" dirty="0"/>
          </a:p>
        </p:txBody>
      </p:sp>
    </p:spTree>
    <p:extLst>
      <p:ext uri="{BB962C8B-B14F-4D97-AF65-F5344CB8AC3E}">
        <p14:creationId xmlns:p14="http://schemas.microsoft.com/office/powerpoint/2010/main" val="1685588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18</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1105469" y="499297"/>
            <a:ext cx="9526137" cy="523220"/>
          </a:xfrm>
          <a:prstGeom prst="rect">
            <a:avLst/>
          </a:prstGeom>
          <a:noFill/>
        </p:spPr>
        <p:txBody>
          <a:bodyPr wrap="square" rtlCol="0">
            <a:spAutoFit/>
          </a:bodyPr>
          <a:lstStyle/>
          <a:p>
            <a:pPr algn="ctr"/>
            <a:r>
              <a:rPr lang="en-US" sz="2800" b="1" u="sng" dirty="0" smtClean="0">
                <a:solidFill>
                  <a:schemeClr val="bg1"/>
                </a:solidFill>
              </a:rPr>
              <a:t>Nature of the data</a:t>
            </a:r>
            <a:endParaRPr lang="en-US" sz="2800" b="1" u="sng" dirty="0">
              <a:solidFill>
                <a:schemeClr val="bg1"/>
              </a:solidFill>
            </a:endParaRPr>
          </a:p>
        </p:txBody>
      </p:sp>
      <p:sp>
        <p:nvSpPr>
          <p:cNvPr id="5" name="TextBox 4"/>
          <p:cNvSpPr txBox="1"/>
          <p:nvPr/>
        </p:nvSpPr>
        <p:spPr>
          <a:xfrm>
            <a:off x="573206" y="1310086"/>
            <a:ext cx="11382233" cy="4668714"/>
          </a:xfrm>
          <a:prstGeom prst="rect">
            <a:avLst/>
          </a:prstGeom>
          <a:noFill/>
        </p:spPr>
        <p:txBody>
          <a:bodyPr wrap="square" rtlCol="0">
            <a:spAutoFit/>
          </a:bodyPr>
          <a:lstStyle/>
          <a:p>
            <a:r>
              <a:rPr lang="en-US" sz="2800" dirty="0" smtClean="0">
                <a:solidFill>
                  <a:schemeClr val="bg1"/>
                </a:solidFill>
              </a:rPr>
              <a:t>The data has been taken from the official government website (data.gov.in). This data was under the datasets of Ministry of Chemical and Fertilizers. </a:t>
            </a:r>
          </a:p>
          <a:p>
            <a:r>
              <a:rPr lang="en-US" sz="2800" dirty="0" smtClean="0">
                <a:solidFill>
                  <a:schemeClr val="bg1"/>
                </a:solidFill>
              </a:rPr>
              <a:t>The data consists of production of various chemical and petrochemical products during a period of 2014 to 2022</a:t>
            </a:r>
            <a:r>
              <a:rPr lang="en-US" sz="2800" dirty="0" smtClean="0">
                <a:solidFill>
                  <a:schemeClr val="bg1"/>
                </a:solidFill>
              </a:rPr>
              <a:t>.</a:t>
            </a:r>
          </a:p>
          <a:p>
            <a:endParaRPr lang="en-US" sz="2800" dirty="0" smtClean="0">
              <a:solidFill>
                <a:schemeClr val="bg1"/>
              </a:solidFill>
            </a:endParaRPr>
          </a:p>
          <a:p>
            <a:pPr marR="0" lvl="0">
              <a:lnSpc>
                <a:spcPct val="107000"/>
              </a:lnSpc>
              <a:spcBef>
                <a:spcPts val="0"/>
              </a:spcBef>
              <a:spcAft>
                <a:spcPts val="800"/>
              </a:spcAft>
            </a:pPr>
            <a:r>
              <a:rPr lang="en-US" sz="2400" dirty="0">
                <a:solidFill>
                  <a:schemeClr val="bg1"/>
                </a:solidFill>
                <a:ea typeface="Calibri" panose="020F0502020204030204" pitchFamily="34" charset="0"/>
                <a:cs typeface="Times New Roman" panose="02020603050405020304" pitchFamily="18" charset="0"/>
              </a:rPr>
              <a:t>Data Figure are in MT(Metric Ton). Production data in respect of Chemicals is based on MPRs received from manufacturer of Chemicals under large and medium scale units monitored by S&amp;M Division of D/o Chemicals &amp; Petrochemicals. Product - It includes those products which are being monitored by S&amp;M Division of D/o Chemicals &amp; Petrochemicals.</a:t>
            </a:r>
            <a:endParaRPr lang="en-US" sz="1600" dirty="0">
              <a:solidFill>
                <a:schemeClr val="bg1"/>
              </a:solidFill>
              <a:ea typeface="Calibri" panose="020F0502020204030204" pitchFamily="34" charset="0"/>
              <a:cs typeface="Times New Roman" panose="02020603050405020304" pitchFamily="18" charset="0"/>
            </a:endParaRPr>
          </a:p>
          <a:p>
            <a:endParaRPr lang="en-US" sz="2400" dirty="0" smtClean="0">
              <a:solidFill>
                <a:schemeClr val="bg1"/>
              </a:solidFill>
            </a:endParaRPr>
          </a:p>
          <a:p>
            <a:endParaRPr lang="en-US" sz="2400" dirty="0">
              <a:solidFill>
                <a:schemeClr val="bg1"/>
              </a:solidFill>
            </a:endParaRPr>
          </a:p>
        </p:txBody>
      </p:sp>
    </p:spTree>
    <p:extLst>
      <p:ext uri="{BB962C8B-B14F-4D97-AF65-F5344CB8AC3E}">
        <p14:creationId xmlns:p14="http://schemas.microsoft.com/office/powerpoint/2010/main" val="4047215192"/>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19</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561833" y="313898"/>
            <a:ext cx="11068334" cy="6647974"/>
          </a:xfrm>
          <a:prstGeom prst="rect">
            <a:avLst/>
          </a:prstGeom>
          <a:noFill/>
        </p:spPr>
        <p:txBody>
          <a:bodyPr wrap="square" rtlCol="0">
            <a:spAutoFit/>
          </a:bodyPr>
          <a:lstStyle/>
          <a:p>
            <a:r>
              <a:rPr lang="en-US" sz="2400" dirty="0" smtClean="0">
                <a:solidFill>
                  <a:schemeClr val="bg1"/>
                </a:solidFill>
              </a:rPr>
              <a:t>Here </a:t>
            </a:r>
            <a:r>
              <a:rPr lang="en-US" sz="2400" dirty="0">
                <a:solidFill>
                  <a:schemeClr val="bg1"/>
                </a:solidFill>
              </a:rPr>
              <a:t>we have taken the data of a few of these major petrochemical products.</a:t>
            </a:r>
          </a:p>
          <a:p>
            <a:r>
              <a:rPr lang="en-US" sz="2400" dirty="0" smtClean="0">
                <a:solidFill>
                  <a:schemeClr val="bg1"/>
                </a:solidFill>
              </a:rPr>
              <a:t>Major </a:t>
            </a:r>
            <a:r>
              <a:rPr lang="en-US" sz="2400" dirty="0">
                <a:solidFill>
                  <a:schemeClr val="bg1"/>
                </a:solidFill>
              </a:rPr>
              <a:t>Petrochemical products that are produced in India between the time period 2014 to 2022 are</a:t>
            </a:r>
          </a:p>
          <a:p>
            <a:r>
              <a:rPr lang="en-US" sz="2400" dirty="0">
                <a:solidFill>
                  <a:schemeClr val="bg1"/>
                </a:solidFill>
              </a:rPr>
              <a:t>(</a:t>
            </a:r>
            <a:r>
              <a:rPr lang="en-US" sz="2400" dirty="0" smtClean="0">
                <a:solidFill>
                  <a:schemeClr val="bg1"/>
                </a:solidFill>
              </a:rPr>
              <a:t>1) Polypropylene</a:t>
            </a:r>
            <a:endParaRPr lang="en-US" sz="2400" dirty="0">
              <a:solidFill>
                <a:schemeClr val="bg1"/>
              </a:solidFill>
            </a:endParaRPr>
          </a:p>
          <a:p>
            <a:r>
              <a:rPr lang="en-US" sz="2400" dirty="0">
                <a:solidFill>
                  <a:schemeClr val="bg1"/>
                </a:solidFill>
              </a:rPr>
              <a:t>(Polypropylene, also known as </a:t>
            </a:r>
            <a:r>
              <a:rPr lang="en-US" sz="2400" dirty="0" err="1">
                <a:solidFill>
                  <a:schemeClr val="bg1"/>
                </a:solidFill>
              </a:rPr>
              <a:t>polypropene</a:t>
            </a:r>
            <a:r>
              <a:rPr lang="en-US" sz="2400" dirty="0">
                <a:solidFill>
                  <a:schemeClr val="bg1"/>
                </a:solidFill>
              </a:rPr>
              <a:t>, is a thermoplastic polymer used in a wide variety of applications. It is produced via chain-growth polymerization from the monomer propylene.)</a:t>
            </a:r>
          </a:p>
          <a:p>
            <a:r>
              <a:rPr lang="en-US" sz="2400" dirty="0">
                <a:solidFill>
                  <a:schemeClr val="bg1"/>
                </a:solidFill>
              </a:rPr>
              <a:t>(</a:t>
            </a:r>
            <a:r>
              <a:rPr lang="en-US" sz="2400" dirty="0" smtClean="0">
                <a:solidFill>
                  <a:schemeClr val="bg1"/>
                </a:solidFill>
              </a:rPr>
              <a:t>2) Ethylene</a:t>
            </a:r>
            <a:endParaRPr lang="en-US" sz="2400" dirty="0">
              <a:solidFill>
                <a:schemeClr val="bg1"/>
              </a:solidFill>
            </a:endParaRPr>
          </a:p>
          <a:p>
            <a:r>
              <a:rPr lang="en-US" sz="2400" dirty="0">
                <a:solidFill>
                  <a:schemeClr val="bg1"/>
                </a:solidFill>
              </a:rPr>
              <a:t>(Ethylene is a hydrocarbon which has the formula C₂H₄ or H₂C=CH₂. It is a </a:t>
            </a:r>
            <a:r>
              <a:rPr lang="en-US" sz="2400" dirty="0" err="1">
                <a:solidFill>
                  <a:schemeClr val="bg1"/>
                </a:solidFill>
              </a:rPr>
              <a:t>colourless</a:t>
            </a:r>
            <a:r>
              <a:rPr lang="en-US" sz="2400" dirty="0">
                <a:solidFill>
                  <a:schemeClr val="bg1"/>
                </a:solidFill>
              </a:rPr>
              <a:t>, flammable gas with a faint "sweet and musky" </a:t>
            </a:r>
            <a:r>
              <a:rPr lang="en-US" sz="2400" dirty="0" err="1">
                <a:solidFill>
                  <a:schemeClr val="bg1"/>
                </a:solidFill>
              </a:rPr>
              <a:t>odour</a:t>
            </a:r>
            <a:r>
              <a:rPr lang="en-US" sz="2400" dirty="0">
                <a:solidFill>
                  <a:schemeClr val="bg1"/>
                </a:solidFill>
              </a:rPr>
              <a:t> when pure. It is the simplest alkene. Ethylene is widely used in the chemical industry, and its worldwide production exceeds that of any other organic compound.)</a:t>
            </a:r>
          </a:p>
          <a:p>
            <a:r>
              <a:rPr lang="en-US" sz="2400" dirty="0">
                <a:solidFill>
                  <a:schemeClr val="bg1"/>
                </a:solidFill>
              </a:rPr>
              <a:t>(</a:t>
            </a:r>
            <a:r>
              <a:rPr lang="en-US" sz="2400" dirty="0" smtClean="0">
                <a:solidFill>
                  <a:schemeClr val="bg1"/>
                </a:solidFill>
              </a:rPr>
              <a:t>3) Propylene </a:t>
            </a:r>
            <a:endParaRPr lang="en-US" sz="2400" dirty="0">
              <a:solidFill>
                <a:schemeClr val="bg1"/>
              </a:solidFill>
            </a:endParaRPr>
          </a:p>
          <a:p>
            <a:r>
              <a:rPr lang="en-US" sz="2400" dirty="0">
                <a:solidFill>
                  <a:schemeClr val="bg1"/>
                </a:solidFill>
              </a:rPr>
              <a:t>(Propylene, also known as propene, is an unsaturated organic compound with the chemical formula CH₃CH=CH₂. It has one double bond, and is the second simplest member of the alkene class of hydrocarbons. It is a colorless gas with a faint petroleum-like odor.)</a:t>
            </a:r>
          </a:p>
          <a:p>
            <a:endParaRPr lang="en-US" dirty="0"/>
          </a:p>
        </p:txBody>
      </p:sp>
    </p:spTree>
    <p:extLst>
      <p:ext uri="{BB962C8B-B14F-4D97-AF65-F5344CB8AC3E}">
        <p14:creationId xmlns:p14="http://schemas.microsoft.com/office/powerpoint/2010/main" val="2788005282"/>
      </p:ext>
    </p:extLst>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20</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586854" y="423081"/>
            <a:ext cx="10766946" cy="2092881"/>
          </a:xfrm>
          <a:prstGeom prst="rect">
            <a:avLst/>
          </a:prstGeom>
          <a:noFill/>
        </p:spPr>
        <p:txBody>
          <a:bodyPr wrap="square" rtlCol="0">
            <a:spAutoFit/>
          </a:bodyPr>
          <a:lstStyle/>
          <a:p>
            <a:r>
              <a:rPr lang="en-US" sz="2800" b="1" u="sng" dirty="0">
                <a:solidFill>
                  <a:schemeClr val="bg1"/>
                </a:solidFill>
              </a:rPr>
              <a:t>Production (in metric ton) of Major Petrochemical products from </a:t>
            </a:r>
            <a:r>
              <a:rPr lang="en-US" sz="2800" b="1" u="sng" dirty="0" smtClean="0">
                <a:solidFill>
                  <a:schemeClr val="bg1"/>
                </a:solidFill>
              </a:rPr>
              <a:t>2014-2022</a:t>
            </a:r>
          </a:p>
          <a:p>
            <a:endParaRPr lang="en-US" sz="2800" b="1" u="sng" dirty="0">
              <a:solidFill>
                <a:schemeClr val="bg1"/>
              </a:solidFill>
            </a:endParaRPr>
          </a:p>
          <a:p>
            <a:endParaRPr lang="en-US" sz="2400" dirty="0" smtClean="0">
              <a:solidFill>
                <a:schemeClr val="bg1"/>
              </a:solidFill>
            </a:endParaRP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3741355454"/>
              </p:ext>
            </p:extLst>
          </p:nvPr>
        </p:nvGraphicFramePr>
        <p:xfrm>
          <a:off x="718867" y="1654899"/>
          <a:ext cx="10499592" cy="4319830"/>
        </p:xfrm>
        <a:graphic>
          <a:graphicData uri="http://schemas.openxmlformats.org/drawingml/2006/table">
            <a:tbl>
              <a:tblPr firstRow="1" firstCol="1" bandRow="1">
                <a:tableStyleId>{5C22544A-7EE6-4342-B048-85BDC9FD1C3A}</a:tableStyleId>
              </a:tblPr>
              <a:tblGrid>
                <a:gridCol w="1746024"/>
                <a:gridCol w="1050350"/>
                <a:gridCol w="1050350"/>
                <a:gridCol w="1050350"/>
                <a:gridCol w="1050350"/>
                <a:gridCol w="1050350"/>
                <a:gridCol w="1137309"/>
                <a:gridCol w="1050350"/>
                <a:gridCol w="1314159"/>
              </a:tblGrid>
              <a:tr h="402362">
                <a:tc>
                  <a:txBody>
                    <a:bodyPr/>
                    <a:lstStyle/>
                    <a:p>
                      <a:pPr marL="0" marR="0" algn="ctr">
                        <a:lnSpc>
                          <a:spcPct val="107000"/>
                        </a:lnSpc>
                        <a:spcBef>
                          <a:spcPts val="0"/>
                        </a:spcBef>
                        <a:spcAft>
                          <a:spcPts val="0"/>
                        </a:spcAft>
                      </a:pPr>
                      <a:r>
                        <a:rPr lang="en-US" sz="2000">
                          <a:effectLst/>
                        </a:rPr>
                        <a:t>Products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2014-15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2015-16</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2016-17</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2017-18</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2018-19</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2019-20</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2020-21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2021-22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r>
              <a:tr h="402362">
                <a:tc>
                  <a:txBody>
                    <a:bodyPr/>
                    <a:lstStyle/>
                    <a:p>
                      <a:pPr marL="0" marR="0" algn="ctr">
                        <a:lnSpc>
                          <a:spcPct val="107000"/>
                        </a:lnSpc>
                        <a:spcBef>
                          <a:spcPts val="0"/>
                        </a:spcBef>
                        <a:spcAft>
                          <a:spcPts val="0"/>
                        </a:spcAft>
                      </a:pPr>
                      <a:r>
                        <a:rPr lang="en-US" sz="2000">
                          <a:effectLst/>
                        </a:rPr>
                        <a:t>Polyester Filament Yarn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2178749</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2179003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2200908</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2283406</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2316430</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2520331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1997927</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2560793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r>
              <a:tr h="402362">
                <a:tc>
                  <a:txBody>
                    <a:bodyPr/>
                    <a:lstStyle/>
                    <a:p>
                      <a:pPr marL="0" marR="0" algn="ctr">
                        <a:lnSpc>
                          <a:spcPct val="107000"/>
                        </a:lnSpc>
                        <a:spcBef>
                          <a:spcPts val="0"/>
                        </a:spcBef>
                        <a:spcAft>
                          <a:spcPts val="0"/>
                        </a:spcAft>
                      </a:pPr>
                      <a:r>
                        <a:rPr lang="en-US" sz="2000">
                          <a:effectLst/>
                        </a:rPr>
                        <a:t>Polyester Staple Fibre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1021245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1039648</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1056002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1005300</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931440</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1027492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909382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1160484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r>
              <a:tr h="402362">
                <a:tc>
                  <a:txBody>
                    <a:bodyPr/>
                    <a:lstStyle/>
                    <a:p>
                      <a:pPr marL="0" marR="0" algn="ctr">
                        <a:lnSpc>
                          <a:spcPct val="107000"/>
                        </a:lnSpc>
                        <a:spcBef>
                          <a:spcPts val="0"/>
                        </a:spcBef>
                        <a:spcAft>
                          <a:spcPts val="0"/>
                        </a:spcAft>
                      </a:pPr>
                      <a:r>
                        <a:rPr lang="en-US" sz="2000">
                          <a:effectLst/>
                        </a:rPr>
                        <a:t>Low Density Polyethylene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184402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200032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201762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185657</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193051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613287</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616613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583038</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r>
              <a:tr h="402362">
                <a:tc>
                  <a:txBody>
                    <a:bodyPr/>
                    <a:lstStyle/>
                    <a:p>
                      <a:pPr marL="0" marR="0" algn="ctr">
                        <a:lnSpc>
                          <a:spcPct val="107000"/>
                        </a:lnSpc>
                        <a:spcBef>
                          <a:spcPts val="0"/>
                        </a:spcBef>
                        <a:spcAft>
                          <a:spcPts val="0"/>
                        </a:spcAft>
                      </a:pPr>
                      <a:r>
                        <a:rPr lang="en-US" sz="2000">
                          <a:effectLst/>
                        </a:rPr>
                        <a:t>High Density Polythylene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1155794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1317151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1520037</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1578378</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1597676</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1897566</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1910043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1915766</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r>
              <a:tr h="402362">
                <a:tc>
                  <a:txBody>
                    <a:bodyPr/>
                    <a:lstStyle/>
                    <a:p>
                      <a:pPr marL="0" marR="0" algn="ctr">
                        <a:lnSpc>
                          <a:spcPct val="107000"/>
                        </a:lnSpc>
                        <a:spcBef>
                          <a:spcPts val="0"/>
                        </a:spcBef>
                        <a:spcAft>
                          <a:spcPts val="0"/>
                        </a:spcAft>
                      </a:pPr>
                      <a:r>
                        <a:rPr lang="en-US" sz="2000">
                          <a:effectLst/>
                        </a:rPr>
                        <a:t>Polyestyrene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281169</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308576</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311345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301578</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292857</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291720</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217447</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247944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r>
              <a:tr h="775885">
                <a:tc>
                  <a:txBody>
                    <a:bodyPr/>
                    <a:lstStyle/>
                    <a:p>
                      <a:pPr marL="0" marR="0" algn="ctr">
                        <a:lnSpc>
                          <a:spcPct val="107000"/>
                        </a:lnSpc>
                        <a:spcBef>
                          <a:spcPts val="0"/>
                        </a:spcBef>
                        <a:spcAft>
                          <a:spcPts val="0"/>
                        </a:spcAft>
                      </a:pPr>
                      <a:r>
                        <a:rPr lang="en-US" sz="2000">
                          <a:effectLst/>
                        </a:rPr>
                        <a:t>Polypropylene (Inc. Co-Polymer)</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3614818</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4284424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4253392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4350198</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4779021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4982815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rPr>
                        <a:t>4919100</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rPr>
                        <a:t>5240698</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r>
            </a:tbl>
          </a:graphicData>
        </a:graphic>
      </p:graphicFrame>
    </p:spTree>
    <p:extLst>
      <p:ext uri="{BB962C8B-B14F-4D97-AF65-F5344CB8AC3E}">
        <p14:creationId xmlns:p14="http://schemas.microsoft.com/office/powerpoint/2010/main" val="2205667221"/>
      </p:ext>
    </p:extLst>
  </p:cSld>
  <p:clrMapOvr>
    <a:masterClrMapping/>
  </p:clrMapOvr>
  <p:transition spd="slow">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21</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6" name="Picture 5"/>
          <p:cNvPicPr>
            <a:picLocks noChangeAspect="1"/>
          </p:cNvPicPr>
          <p:nvPr/>
        </p:nvPicPr>
        <p:blipFill rotWithShape="1">
          <a:blip r:embed="rId3"/>
          <a:srcRect b="8405"/>
          <a:stretch/>
        </p:blipFill>
        <p:spPr>
          <a:xfrm>
            <a:off x="1323833" y="330957"/>
            <a:ext cx="9771797" cy="6196085"/>
          </a:xfrm>
          <a:prstGeom prst="rect">
            <a:avLst/>
          </a:prstGeom>
        </p:spPr>
      </p:pic>
    </p:spTree>
    <p:extLst>
      <p:ext uri="{BB962C8B-B14F-4D97-AF65-F5344CB8AC3E}">
        <p14:creationId xmlns:p14="http://schemas.microsoft.com/office/powerpoint/2010/main" val="1303564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22</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477672" y="204716"/>
            <a:ext cx="10521287" cy="738664"/>
          </a:xfrm>
          <a:prstGeom prst="rect">
            <a:avLst/>
          </a:prstGeom>
          <a:noFill/>
        </p:spPr>
        <p:txBody>
          <a:bodyPr wrap="square" rtlCol="0">
            <a:spAutoFit/>
          </a:bodyPr>
          <a:lstStyle/>
          <a:p>
            <a:r>
              <a:rPr lang="en-US" sz="2400" b="1" dirty="0" smtClean="0">
                <a:solidFill>
                  <a:schemeClr val="bg1"/>
                </a:solidFill>
              </a:rPr>
              <a:t>Plotting </a:t>
            </a:r>
            <a:r>
              <a:rPr lang="en-US" sz="2400" b="1" dirty="0">
                <a:solidFill>
                  <a:schemeClr val="bg1"/>
                </a:solidFill>
              </a:rPr>
              <a:t>a graph of production of Ethylene, Propylene and Polypropylene</a:t>
            </a:r>
          </a:p>
          <a:p>
            <a:endParaRPr lang="en-US" dirty="0"/>
          </a:p>
        </p:txBody>
      </p:sp>
      <p:pic>
        <p:nvPicPr>
          <p:cNvPr id="8" name="Picture 7"/>
          <p:cNvPicPr/>
          <p:nvPr/>
        </p:nvPicPr>
        <p:blipFill>
          <a:blip r:embed="rId3">
            <a:extLst>
              <a:ext uri="{28A0092B-C50C-407E-A947-70E740481C1C}">
                <a14:useLocalDpi xmlns:a14="http://schemas.microsoft.com/office/drawing/2010/main" val="0"/>
              </a:ext>
            </a:extLst>
          </a:blip>
          <a:stretch>
            <a:fillRect/>
          </a:stretch>
        </p:blipFill>
        <p:spPr>
          <a:xfrm>
            <a:off x="477672" y="904120"/>
            <a:ext cx="5104262" cy="5141837"/>
          </a:xfrm>
          <a:prstGeom prst="rect">
            <a:avLst/>
          </a:prstGeom>
          <a:solidFill>
            <a:schemeClr val="accent2">
              <a:lumMod val="40000"/>
              <a:lumOff val="60000"/>
            </a:schemeClr>
          </a:solidFill>
        </p:spPr>
      </p:pic>
      <p:pic>
        <p:nvPicPr>
          <p:cNvPr id="9" name="Picture 8"/>
          <p:cNvPicPr/>
          <p:nvPr/>
        </p:nvPicPr>
        <p:blipFill>
          <a:blip r:embed="rId4">
            <a:extLst>
              <a:ext uri="{28A0092B-C50C-407E-A947-70E740481C1C}">
                <a14:useLocalDpi xmlns:a14="http://schemas.microsoft.com/office/drawing/2010/main" val="0"/>
              </a:ext>
            </a:extLst>
          </a:blip>
          <a:stretch>
            <a:fillRect/>
          </a:stretch>
        </p:blipFill>
        <p:spPr>
          <a:xfrm>
            <a:off x="6455391" y="943380"/>
            <a:ext cx="5021240" cy="5102577"/>
          </a:xfrm>
          <a:prstGeom prst="rect">
            <a:avLst/>
          </a:prstGeom>
          <a:solidFill>
            <a:schemeClr val="accent2">
              <a:lumMod val="40000"/>
              <a:lumOff val="60000"/>
            </a:schemeClr>
          </a:solidFill>
        </p:spPr>
      </p:pic>
    </p:spTree>
    <p:extLst>
      <p:ext uri="{BB962C8B-B14F-4D97-AF65-F5344CB8AC3E}">
        <p14:creationId xmlns:p14="http://schemas.microsoft.com/office/powerpoint/2010/main" val="2276434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23</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Picture 3"/>
          <p:cNvPicPr/>
          <p:nvPr/>
        </p:nvPicPr>
        <p:blipFill>
          <a:blip r:embed="rId3">
            <a:extLst>
              <a:ext uri="{28A0092B-C50C-407E-A947-70E740481C1C}">
                <a14:useLocalDpi xmlns:a14="http://schemas.microsoft.com/office/drawing/2010/main" val="0"/>
              </a:ext>
            </a:extLst>
          </a:blip>
          <a:stretch>
            <a:fillRect/>
          </a:stretch>
        </p:blipFill>
        <p:spPr>
          <a:xfrm>
            <a:off x="3289300" y="499745"/>
            <a:ext cx="5613400" cy="5858510"/>
          </a:xfrm>
          <a:prstGeom prst="rect">
            <a:avLst/>
          </a:prstGeom>
          <a:solidFill>
            <a:schemeClr val="accent2">
              <a:lumMod val="40000"/>
              <a:lumOff val="60000"/>
            </a:schemeClr>
          </a:solidFill>
        </p:spPr>
      </p:pic>
    </p:spTree>
    <p:extLst>
      <p:ext uri="{BB962C8B-B14F-4D97-AF65-F5344CB8AC3E}">
        <p14:creationId xmlns:p14="http://schemas.microsoft.com/office/powerpoint/2010/main" val="2278279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24</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573207" y="341195"/>
            <a:ext cx="10658901" cy="6555641"/>
          </a:xfrm>
          <a:prstGeom prst="rect">
            <a:avLst/>
          </a:prstGeom>
          <a:noFill/>
        </p:spPr>
        <p:txBody>
          <a:bodyPr wrap="square" rtlCol="0">
            <a:spAutoFit/>
          </a:bodyPr>
          <a:lstStyle/>
          <a:p>
            <a:pPr marL="342900" lvl="0" indent="-342900">
              <a:buFont typeface="Arial" panose="020B0604020202020204" pitchFamily="34" charset="0"/>
              <a:buChar char="•"/>
            </a:pPr>
            <a:r>
              <a:rPr lang="en-US" sz="2400" dirty="0">
                <a:solidFill>
                  <a:schemeClr val="bg1"/>
                </a:solidFill>
              </a:rPr>
              <a:t>ARIMA model analysis for Ethylene and predicting next 5 forecast values</a:t>
            </a:r>
          </a:p>
          <a:p>
            <a:r>
              <a:rPr lang="en-US" sz="2400" dirty="0">
                <a:solidFill>
                  <a:schemeClr val="bg1"/>
                </a:solidFill>
              </a:rPr>
              <a:t> </a:t>
            </a:r>
          </a:p>
          <a:p>
            <a:r>
              <a:rPr lang="en-US" sz="2400" dirty="0">
                <a:solidFill>
                  <a:schemeClr val="bg1"/>
                </a:solidFill>
              </a:rPr>
              <a:t>Point        Forecast    Lo 80      Hi 80        Lo 95       Hi 95</a:t>
            </a:r>
          </a:p>
          <a:p>
            <a:r>
              <a:rPr lang="en-US" sz="2400" dirty="0">
                <a:solidFill>
                  <a:schemeClr val="bg1"/>
                </a:solidFill>
              </a:rPr>
              <a:t>2022        6414520  5086058  7742982  4382812   8446228</a:t>
            </a:r>
          </a:p>
          <a:p>
            <a:r>
              <a:rPr lang="en-US" sz="2400" dirty="0">
                <a:solidFill>
                  <a:schemeClr val="bg1"/>
                </a:solidFill>
              </a:rPr>
              <a:t>2023        6414520  4535790  8293250  3541251   9287789</a:t>
            </a:r>
          </a:p>
          <a:p>
            <a:r>
              <a:rPr lang="en-US" sz="2400" dirty="0">
                <a:solidFill>
                  <a:schemeClr val="bg1"/>
                </a:solidFill>
              </a:rPr>
              <a:t>2024        6414520  4113556  8715484  2895499   9933541</a:t>
            </a:r>
          </a:p>
          <a:p>
            <a:r>
              <a:rPr lang="en-US" sz="2400" dirty="0">
                <a:solidFill>
                  <a:schemeClr val="bg1"/>
                </a:solidFill>
              </a:rPr>
              <a:t>2025        6414520  3757595  9071445  2351104  10477936</a:t>
            </a:r>
          </a:p>
          <a:p>
            <a:r>
              <a:rPr lang="en-US" sz="2400" dirty="0">
                <a:solidFill>
                  <a:schemeClr val="bg1"/>
                </a:solidFill>
              </a:rPr>
              <a:t>2026        6414520  3443988  9385052  1871483  10957557</a:t>
            </a:r>
          </a:p>
          <a:p>
            <a:endParaRPr lang="en-US" dirty="0" smtClean="0"/>
          </a:p>
          <a:p>
            <a:pPr marL="342900" lvl="0" indent="-342900">
              <a:buFont typeface="Arial" panose="020B0604020202020204" pitchFamily="34" charset="0"/>
              <a:buChar char="•"/>
            </a:pPr>
            <a:r>
              <a:rPr lang="en-US" sz="2400" dirty="0">
                <a:solidFill>
                  <a:schemeClr val="bg1"/>
                </a:solidFill>
              </a:rPr>
              <a:t>ARIMA Model Analysis for Propylene and predicting next 5 forecast </a:t>
            </a:r>
            <a:r>
              <a:rPr lang="en-US" sz="2400" dirty="0" smtClean="0">
                <a:solidFill>
                  <a:schemeClr val="bg1"/>
                </a:solidFill>
              </a:rPr>
              <a:t>values</a:t>
            </a:r>
          </a:p>
          <a:p>
            <a:pPr lvl="0"/>
            <a:endParaRPr lang="en-US" sz="2400" dirty="0">
              <a:solidFill>
                <a:schemeClr val="bg1"/>
              </a:solidFill>
            </a:endParaRPr>
          </a:p>
          <a:p>
            <a:r>
              <a:rPr lang="en-US" sz="2400" dirty="0">
                <a:solidFill>
                  <a:schemeClr val="bg1"/>
                </a:solidFill>
              </a:rPr>
              <a:t>Point        Forecast    Lo 80      Hi 80        </a:t>
            </a:r>
            <a:r>
              <a:rPr lang="en-US" sz="2400" dirty="0" smtClean="0">
                <a:solidFill>
                  <a:schemeClr val="bg1"/>
                </a:solidFill>
              </a:rPr>
              <a:t>  Lo </a:t>
            </a:r>
            <a:r>
              <a:rPr lang="en-US" sz="2400" dirty="0">
                <a:solidFill>
                  <a:schemeClr val="bg1"/>
                </a:solidFill>
              </a:rPr>
              <a:t>95     </a:t>
            </a:r>
            <a:r>
              <a:rPr lang="en-US" sz="2400" dirty="0" smtClean="0">
                <a:solidFill>
                  <a:schemeClr val="bg1"/>
                </a:solidFill>
              </a:rPr>
              <a:t>   </a:t>
            </a:r>
            <a:r>
              <a:rPr lang="en-US" sz="2400" dirty="0">
                <a:solidFill>
                  <a:schemeClr val="bg1"/>
                </a:solidFill>
              </a:rPr>
              <a:t>Hi 95</a:t>
            </a:r>
          </a:p>
          <a:p>
            <a:r>
              <a:rPr lang="en-US" sz="2400" dirty="0">
                <a:solidFill>
                  <a:schemeClr val="bg1"/>
                </a:solidFill>
              </a:rPr>
              <a:t>2022        5887345  5610670  6164020  5464207  6310483</a:t>
            </a:r>
          </a:p>
          <a:p>
            <a:r>
              <a:rPr lang="en-US" sz="2400" dirty="0">
                <a:solidFill>
                  <a:schemeClr val="bg1"/>
                </a:solidFill>
              </a:rPr>
              <a:t>2023        6139588  5748310  6530866  5541180  6737996</a:t>
            </a:r>
          </a:p>
          <a:p>
            <a:r>
              <a:rPr lang="en-US" sz="2400" dirty="0">
                <a:solidFill>
                  <a:schemeClr val="bg1"/>
                </a:solidFill>
              </a:rPr>
              <a:t>2024        6391831  5912615  6871046  5658934  7124727</a:t>
            </a:r>
          </a:p>
          <a:p>
            <a:r>
              <a:rPr lang="en-US" sz="2400" dirty="0">
                <a:solidFill>
                  <a:schemeClr val="bg1"/>
                </a:solidFill>
              </a:rPr>
              <a:t>2025        6644073  6090723  7197424  5797797  7490350</a:t>
            </a:r>
          </a:p>
          <a:p>
            <a:r>
              <a:rPr lang="en-US" sz="2400" dirty="0">
                <a:solidFill>
                  <a:schemeClr val="bg1"/>
                </a:solidFill>
              </a:rPr>
              <a:t>2026        6896316  6277652  7514981  5950150  7842482</a:t>
            </a:r>
          </a:p>
          <a:p>
            <a:endParaRPr lang="en-US" dirty="0"/>
          </a:p>
        </p:txBody>
      </p:sp>
    </p:spTree>
    <p:extLst>
      <p:ext uri="{BB962C8B-B14F-4D97-AF65-F5344CB8AC3E}">
        <p14:creationId xmlns:p14="http://schemas.microsoft.com/office/powerpoint/2010/main" val="3452517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25</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Picture 3"/>
          <p:cNvPicPr/>
          <p:nvPr/>
        </p:nvPicPr>
        <p:blipFill>
          <a:blip r:embed="rId3">
            <a:extLst>
              <a:ext uri="{28A0092B-C50C-407E-A947-70E740481C1C}">
                <a14:useLocalDpi xmlns:a14="http://schemas.microsoft.com/office/drawing/2010/main" val="0"/>
              </a:ext>
            </a:extLst>
          </a:blip>
          <a:stretch>
            <a:fillRect/>
          </a:stretch>
        </p:blipFill>
        <p:spPr>
          <a:xfrm>
            <a:off x="279026" y="423714"/>
            <a:ext cx="5862468" cy="5932635"/>
          </a:xfrm>
          <a:prstGeom prst="rect">
            <a:avLst/>
          </a:prstGeom>
          <a:solidFill>
            <a:schemeClr val="accent2">
              <a:lumMod val="40000"/>
              <a:lumOff val="60000"/>
            </a:schemeClr>
          </a:solidFill>
        </p:spPr>
      </p:pic>
      <p:pic>
        <p:nvPicPr>
          <p:cNvPr id="5" name="Picture 4"/>
          <p:cNvPicPr/>
          <p:nvPr/>
        </p:nvPicPr>
        <p:blipFill>
          <a:blip r:embed="rId4">
            <a:extLst>
              <a:ext uri="{28A0092B-C50C-407E-A947-70E740481C1C}">
                <a14:useLocalDpi xmlns:a14="http://schemas.microsoft.com/office/drawing/2010/main" val="0"/>
              </a:ext>
            </a:extLst>
          </a:blip>
          <a:stretch>
            <a:fillRect/>
          </a:stretch>
        </p:blipFill>
        <p:spPr>
          <a:xfrm>
            <a:off x="6420520" y="423713"/>
            <a:ext cx="5507623" cy="5932635"/>
          </a:xfrm>
          <a:prstGeom prst="rect">
            <a:avLst/>
          </a:prstGeom>
          <a:solidFill>
            <a:schemeClr val="accent2">
              <a:lumMod val="40000"/>
              <a:lumOff val="60000"/>
            </a:schemeClr>
          </a:solidFill>
        </p:spPr>
      </p:pic>
    </p:spTree>
    <p:extLst>
      <p:ext uri="{BB962C8B-B14F-4D97-AF65-F5344CB8AC3E}">
        <p14:creationId xmlns:p14="http://schemas.microsoft.com/office/powerpoint/2010/main" val="13339683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26</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extBox 3"/>
          <p:cNvSpPr txBox="1"/>
          <p:nvPr/>
        </p:nvSpPr>
        <p:spPr>
          <a:xfrm>
            <a:off x="614150" y="1028738"/>
            <a:ext cx="10495128" cy="2954655"/>
          </a:xfrm>
          <a:prstGeom prst="rect">
            <a:avLst/>
          </a:prstGeom>
          <a:noFill/>
        </p:spPr>
        <p:txBody>
          <a:bodyPr wrap="square" rtlCol="0">
            <a:spAutoFit/>
          </a:bodyPr>
          <a:lstStyle/>
          <a:p>
            <a:pPr marL="342900" lvl="0" indent="-342900">
              <a:buFont typeface="Arial" panose="020B0604020202020204" pitchFamily="34" charset="0"/>
              <a:buChar char="•"/>
            </a:pPr>
            <a:r>
              <a:rPr lang="en-US" sz="2400" dirty="0">
                <a:solidFill>
                  <a:schemeClr val="bg1"/>
                </a:solidFill>
              </a:rPr>
              <a:t>ARIMA Model Analysis for Polypropylene and predicting next 5 forecast values</a:t>
            </a:r>
          </a:p>
          <a:p>
            <a:r>
              <a:rPr lang="en-US" sz="2400" dirty="0">
                <a:solidFill>
                  <a:schemeClr val="bg1"/>
                </a:solidFill>
              </a:rPr>
              <a:t>Point         Forecast   Lo 80       Hi 80       Lo 95      Hi 95</a:t>
            </a:r>
          </a:p>
          <a:p>
            <a:r>
              <a:rPr lang="en-US" sz="2400" dirty="0">
                <a:solidFill>
                  <a:schemeClr val="bg1"/>
                </a:solidFill>
              </a:rPr>
              <a:t>2022        5472967  5136337  5809596  4958137  5987797</a:t>
            </a:r>
          </a:p>
          <a:p>
            <a:r>
              <a:rPr lang="en-US" sz="2400" dirty="0">
                <a:solidFill>
                  <a:schemeClr val="bg1"/>
                </a:solidFill>
              </a:rPr>
              <a:t>2023        5705235  5229170  6181301  4977156  6433315</a:t>
            </a:r>
          </a:p>
          <a:p>
            <a:r>
              <a:rPr lang="en-US" sz="2400" dirty="0">
                <a:solidFill>
                  <a:schemeClr val="bg1"/>
                </a:solidFill>
              </a:rPr>
              <a:t>2024        5937504  5354445  6520563  5045792  6829215</a:t>
            </a:r>
          </a:p>
          <a:p>
            <a:r>
              <a:rPr lang="en-US" sz="2400" dirty="0">
                <a:solidFill>
                  <a:schemeClr val="bg1"/>
                </a:solidFill>
              </a:rPr>
              <a:t>2025        6169772  5496514  6843031  5140112  7199432</a:t>
            </a:r>
          </a:p>
          <a:p>
            <a:r>
              <a:rPr lang="en-US" sz="2400" dirty="0">
                <a:solidFill>
                  <a:schemeClr val="bg1"/>
                </a:solidFill>
              </a:rPr>
              <a:t>2026        6402041  5649315  7154767  5250846  7553236</a:t>
            </a:r>
          </a:p>
          <a:p>
            <a:endParaRPr lang="en-US" dirty="0"/>
          </a:p>
        </p:txBody>
      </p:sp>
    </p:spTree>
    <p:extLst>
      <p:ext uri="{BB962C8B-B14F-4D97-AF65-F5344CB8AC3E}">
        <p14:creationId xmlns:p14="http://schemas.microsoft.com/office/powerpoint/2010/main" val="9201008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27</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Picture 3"/>
          <p:cNvPicPr/>
          <p:nvPr/>
        </p:nvPicPr>
        <p:blipFill>
          <a:blip r:embed="rId3">
            <a:extLst>
              <a:ext uri="{28A0092B-C50C-407E-A947-70E740481C1C}">
                <a14:useLocalDpi xmlns:a14="http://schemas.microsoft.com/office/drawing/2010/main" val="0"/>
              </a:ext>
            </a:extLst>
          </a:blip>
          <a:stretch>
            <a:fillRect/>
          </a:stretch>
        </p:blipFill>
        <p:spPr>
          <a:xfrm>
            <a:off x="2785031" y="757768"/>
            <a:ext cx="6621937" cy="5342464"/>
          </a:xfrm>
          <a:prstGeom prst="rect">
            <a:avLst/>
          </a:prstGeom>
          <a:solidFill>
            <a:schemeClr val="accent2">
              <a:lumMod val="40000"/>
              <a:lumOff val="60000"/>
            </a:schemeClr>
          </a:solidFill>
        </p:spPr>
      </p:pic>
    </p:spTree>
    <p:extLst>
      <p:ext uri="{BB962C8B-B14F-4D97-AF65-F5344CB8AC3E}">
        <p14:creationId xmlns:p14="http://schemas.microsoft.com/office/powerpoint/2010/main" val="5591344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28</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8794288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29</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5881024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C68732F-3A53-4141-9A7F-3FFB7DE825B7}" type="slidenum">
              <a:rPr lang="en-US" smtClean="0"/>
              <a:t>30</a:t>
            </a:fld>
            <a:endParaRPr lang="en-US"/>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376306831"/>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88452CEC-26C9-45F5-A0A7-E9922542C139}" vid="{D2F15A7A-9B62-4F3D-8CD3-040B88D6EA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902</TotalTime>
  <Words>2556</Words>
  <Application>Microsoft Office PowerPoint</Application>
  <PresentationFormat>Widescreen</PresentationFormat>
  <Paragraphs>261</Paragraphs>
  <Slides>30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Calibri</vt:lpstr>
      <vt:lpstr>Calibri Light</vt:lpstr>
      <vt:lpstr>Times New Roman</vt:lpstr>
      <vt:lpstr>Theme1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71</cp:revision>
  <dcterms:created xsi:type="dcterms:W3CDTF">2023-10-18T03:01:42Z</dcterms:created>
  <dcterms:modified xsi:type="dcterms:W3CDTF">2024-01-19T21:30:58Z</dcterms:modified>
</cp:coreProperties>
</file>